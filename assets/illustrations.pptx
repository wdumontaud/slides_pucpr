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2.svg" ContentType="image/svg+xml"/>
  <Override PartName="/ppt/media/image14.svg" ContentType="image/svg+xml"/>
  <Override PartName="/ppt/media/image17.svg" ContentType="image/svg+xml"/>
  <Override PartName="/ppt/media/image19.svg" ContentType="image/svg+xml"/>
  <Override PartName="/ppt/media/image2.svg" ContentType="image/svg+xml"/>
  <Override PartName="/ppt/media/image21.svg" ContentType="image/svg+xml"/>
  <Override PartName="/ppt/media/image23.svg" ContentType="image/svg+xml"/>
  <Override PartName="/ppt/media/image25.svg" ContentType="image/svg+xml"/>
  <Override PartName="/ppt/media/image27.svg" ContentType="image/svg+xml"/>
  <Override PartName="/ppt/media/image29.svg" ContentType="image/svg+xml"/>
  <Override PartName="/ppt/media/image31.svg" ContentType="image/svg+xml"/>
  <Override PartName="/ppt/media/image33.svg" ContentType="image/svg+xml"/>
  <Override PartName="/ppt/media/image35.svg" ContentType="image/svg+xml"/>
  <Override PartName="/ppt/media/image4.svg" ContentType="image/svg+xml"/>
  <Override PartName="/ppt/media/image6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50" d="100"/>
          <a:sy n="150" d="100"/>
        </p:scale>
        <p:origin x="-966" y="-45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sv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sv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sv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sv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sv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sv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sv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/>
              <a:t>Editable illustrations of the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/>
              <a:t>Each following slide holds one drawing, stored as SVG (vector).</a:t>
            </a:r>
          </a:p>
          <a:p>
            <a:r>
              <a:rPr sz="1800" b="0"/>
              <a:t>1. Right-click the drawing &gt; Convert to Shape (PowerPoint 365 / 2021+): it becomes editable shapes.</a:t>
            </a:r>
          </a:p>
          <a:p>
            <a:r>
              <a:rPr sz="1800" b="0"/>
              <a:t>2. Edit it (colours, lines, add elements...). Keep it grouped.</a:t>
            </a:r>
          </a:p>
          <a:p>
            <a:r>
              <a:rPr sz="1800" b="0"/>
              <a:t>3. Select the group &gt; right-click &gt; Save as Picture... &gt; type SVG.</a:t>
            </a:r>
          </a:p>
          <a:p>
            <a:r>
              <a:rPr sz="1800" b="0"/>
              <a:t>4. Save it over the file named in the slide title (the path is relative to the presentation folder).</a:t>
            </a:r>
          </a:p>
          <a:p>
            <a:r>
              <a:rPr sz="1800" b="0"/>
              <a:t>5. Run  python config/build.py  (or keep  python config/build.py --watch  running) and refresh the browser.</a:t>
            </a:r>
          </a:p>
          <a:p>
            <a:endParaRPr sz="1800" b="0"/>
          </a:p>
          <a:p>
            <a:r>
              <a:rPr sz="1800" b="0"/>
              <a:t>Tip: keep the same width/height ratio so that the drawing fits its place on the slide.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assets/04-introduction/sota-building.svg</a:t>
            </a:r>
          </a:p>
        </p:txBody>
      </p:sp>
      <p:sp>
        <p:nvSpPr>
          <p:cNvPr id="5" name="Forme libre : forme 4">
            <a:extLst>
              <a:ext uri="{FF2B5EF4-FFF2-40B4-BE49-F238E27FC236}">
                <a16:creationId xmlns:a16="http://schemas.microsoft.com/office/drawing/2014/main" id="{5A3E5E7D-B411-177B-6DA2-CF0EBC785952}"/>
              </a:ext>
            </a:extLst>
          </p:cNvPr>
          <p:cNvSpPr/>
          <p:nvPr/>
        </p:nvSpPr>
        <p:spPr>
          <a:xfrm>
            <a:off x="3740352" y="2304288"/>
            <a:ext cx="3277209" cy="3686860"/>
          </a:xfrm>
          <a:custGeom>
            <a:avLst/>
            <a:gdLst>
              <a:gd name="connsiteX0" fmla="*/ 0 w 3277209"/>
              <a:gd name="connsiteY0" fmla="*/ 3686861 h 3686860"/>
              <a:gd name="connsiteX1" fmla="*/ 0 w 3277209"/>
              <a:gd name="connsiteY1" fmla="*/ 1228954 h 3686860"/>
              <a:gd name="connsiteX2" fmla="*/ 1638605 w 3277209"/>
              <a:gd name="connsiteY2" fmla="*/ 0 h 3686860"/>
              <a:gd name="connsiteX3" fmla="*/ 3277210 w 3277209"/>
              <a:gd name="connsiteY3" fmla="*/ 1228954 h 3686860"/>
              <a:gd name="connsiteX4" fmla="*/ 3277210 w 3277209"/>
              <a:gd name="connsiteY4" fmla="*/ 3686861 h 36868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77209" h="3686860">
                <a:moveTo>
                  <a:pt x="0" y="3686861"/>
                </a:moveTo>
                <a:lnTo>
                  <a:pt x="0" y="1228954"/>
                </a:lnTo>
                <a:lnTo>
                  <a:pt x="1638605" y="0"/>
                </a:lnTo>
                <a:lnTo>
                  <a:pt x="3277210" y="1228954"/>
                </a:lnTo>
                <a:lnTo>
                  <a:pt x="3277210" y="3686861"/>
                </a:lnTo>
                <a:close/>
              </a:path>
            </a:pathLst>
          </a:custGeom>
          <a:solidFill>
            <a:srgbClr val="DFE7EF"/>
          </a:solidFill>
          <a:ln w="204623" cap="flat">
            <a:solidFill>
              <a:srgbClr val="00294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CD452A6F-4A5D-C673-1413-50B653F7DE80}"/>
              </a:ext>
            </a:extLst>
          </p:cNvPr>
          <p:cNvSpPr/>
          <p:nvPr/>
        </p:nvSpPr>
        <p:spPr>
          <a:xfrm>
            <a:off x="7222387" y="3123590"/>
            <a:ext cx="1433779" cy="2867558"/>
          </a:xfrm>
          <a:custGeom>
            <a:avLst/>
            <a:gdLst>
              <a:gd name="connsiteX0" fmla="*/ 0 w 1433779"/>
              <a:gd name="connsiteY0" fmla="*/ 0 h 2867558"/>
              <a:gd name="connsiteX1" fmla="*/ 1433779 w 1433779"/>
              <a:gd name="connsiteY1" fmla="*/ 0 h 2867558"/>
              <a:gd name="connsiteX2" fmla="*/ 1433779 w 1433779"/>
              <a:gd name="connsiteY2" fmla="*/ 2867559 h 2867558"/>
              <a:gd name="connsiteX3" fmla="*/ 0 w 1433779"/>
              <a:gd name="connsiteY3" fmla="*/ 2867559 h 28675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33779" h="2867558">
                <a:moveTo>
                  <a:pt x="0" y="0"/>
                </a:moveTo>
                <a:lnTo>
                  <a:pt x="1433779" y="0"/>
                </a:lnTo>
                <a:lnTo>
                  <a:pt x="1433779" y="2867559"/>
                </a:lnTo>
                <a:lnTo>
                  <a:pt x="0" y="2867559"/>
                </a:lnTo>
                <a:close/>
              </a:path>
            </a:pathLst>
          </a:custGeom>
          <a:solidFill>
            <a:srgbClr val="DFE7EF"/>
          </a:solidFill>
          <a:ln w="204623" cap="flat">
            <a:solidFill>
              <a:srgbClr val="00294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1E8519F3-F9E4-EB39-F9BD-7F1837A31CA3}"/>
              </a:ext>
            </a:extLst>
          </p:cNvPr>
          <p:cNvSpPr/>
          <p:nvPr/>
        </p:nvSpPr>
        <p:spPr>
          <a:xfrm>
            <a:off x="7529626" y="1587398"/>
            <a:ext cx="1024127" cy="1024128"/>
          </a:xfrm>
          <a:custGeom>
            <a:avLst/>
            <a:gdLst>
              <a:gd name="connsiteX0" fmla="*/ 1024128 w 1024127"/>
              <a:gd name="connsiteY0" fmla="*/ 512064 h 1024128"/>
              <a:gd name="connsiteX1" fmla="*/ 512064 w 1024127"/>
              <a:gd name="connsiteY1" fmla="*/ 1024128 h 1024128"/>
              <a:gd name="connsiteX2" fmla="*/ 0 w 1024127"/>
              <a:gd name="connsiteY2" fmla="*/ 512064 h 1024128"/>
              <a:gd name="connsiteX3" fmla="*/ 512064 w 1024127"/>
              <a:gd name="connsiteY3" fmla="*/ 0 h 1024128"/>
              <a:gd name="connsiteX4" fmla="*/ 1024128 w 1024127"/>
              <a:gd name="connsiteY4" fmla="*/ 512064 h 10241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24127" h="1024128">
                <a:moveTo>
                  <a:pt x="1024128" y="512064"/>
                </a:moveTo>
                <a:cubicBezTo>
                  <a:pt x="1024128" y="794869"/>
                  <a:pt x="794869" y="1024128"/>
                  <a:pt x="512064" y="1024128"/>
                </a:cubicBezTo>
                <a:cubicBezTo>
                  <a:pt x="229259" y="1024128"/>
                  <a:pt x="0" y="794869"/>
                  <a:pt x="0" y="512064"/>
                </a:cubicBezTo>
                <a:cubicBezTo>
                  <a:pt x="0" y="229259"/>
                  <a:pt x="229259" y="0"/>
                  <a:pt x="512064" y="0"/>
                </a:cubicBezTo>
                <a:cubicBezTo>
                  <a:pt x="794869" y="0"/>
                  <a:pt x="1024128" y="229259"/>
                  <a:pt x="1024128" y="512064"/>
                </a:cubicBezTo>
                <a:close/>
              </a:path>
            </a:pathLst>
          </a:custGeom>
          <a:solidFill>
            <a:srgbClr val="FEEA6D"/>
          </a:solidFill>
          <a:ln w="102312" cap="flat">
            <a:solidFill>
              <a:srgbClr val="C9A800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A77FBC40-30AD-EC66-7A61-32C3B32E9471}"/>
              </a:ext>
            </a:extLst>
          </p:cNvPr>
          <p:cNvSpPr/>
          <p:nvPr/>
        </p:nvSpPr>
        <p:spPr>
          <a:xfrm>
            <a:off x="3330701" y="5991148"/>
            <a:ext cx="5530290" cy="102412"/>
          </a:xfrm>
          <a:custGeom>
            <a:avLst/>
            <a:gdLst>
              <a:gd name="connsiteX0" fmla="*/ 0 w 5530290"/>
              <a:gd name="connsiteY0" fmla="*/ 0 h 102412"/>
              <a:gd name="connsiteX1" fmla="*/ 5530291 w 5530290"/>
              <a:gd name="connsiteY1" fmla="*/ 0 h 1024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530290" h="102412">
                <a:moveTo>
                  <a:pt x="0" y="0"/>
                </a:moveTo>
                <a:lnTo>
                  <a:pt x="5530291" y="0"/>
                </a:lnTo>
              </a:path>
            </a:pathLst>
          </a:custGeom>
          <a:solidFill>
            <a:srgbClr val="000000"/>
          </a:solidFill>
          <a:ln w="204623" cap="flat">
            <a:solidFill>
              <a:srgbClr val="00294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assets/04-introduction/sota-material.svg</a:t>
            </a:r>
          </a:p>
        </p:txBody>
      </p:sp>
      <p:pic>
        <p:nvPicPr>
          <p:cNvPr id="3" name="Picture 2" descr="sota-material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25876" y="1280160"/>
            <a:ext cx="5939942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assets/04-introduction/sota-wall.svg</a:t>
            </a:r>
          </a:p>
        </p:txBody>
      </p:sp>
      <p:pic>
        <p:nvPicPr>
          <p:cNvPr id="3" name="Picture 2" descr="sota-wall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25876" y="1280160"/>
            <a:ext cx="5939942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assets/04-introduction/tech-cavities.svg</a:t>
            </a:r>
          </a:p>
        </p:txBody>
      </p:sp>
      <p:pic>
        <p:nvPicPr>
          <p:cNvPr id="3" name="Picture 2" descr="tech-cavities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5347" y="1280160"/>
            <a:ext cx="80010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assets/04-introduction/tech-lattice.svg</a:t>
            </a:r>
          </a:p>
        </p:txBody>
      </p:sp>
      <p:pic>
        <p:nvPicPr>
          <p:cNvPr id="3" name="Picture 2" descr="tech-lattic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5347" y="1280160"/>
            <a:ext cx="80010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assets/04-introduction/tech-multimaterial.svg</a:t>
            </a:r>
          </a:p>
        </p:txBody>
      </p:sp>
      <p:pic>
        <p:nvPicPr>
          <p:cNvPr id="3" name="Picture 2" descr="tech-multimaterial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5347" y="1280160"/>
            <a:ext cx="80010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assets/03-contents/toc-conclusion.svg</a:t>
            </a:r>
          </a:p>
        </p:txBody>
      </p:sp>
      <p:pic>
        <p:nvPicPr>
          <p:cNvPr id="3" name="Picture 2" descr="toc-conclusion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9495" y="1280160"/>
            <a:ext cx="563270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assets/03-contents/toc-cosimulation.svg</a:t>
            </a:r>
          </a:p>
        </p:txBody>
      </p:sp>
      <p:sp>
        <p:nvSpPr>
          <p:cNvPr id="5" name="Forme libre : forme 4">
            <a:extLst>
              <a:ext uri="{FF2B5EF4-FFF2-40B4-BE49-F238E27FC236}">
                <a16:creationId xmlns:a16="http://schemas.microsoft.com/office/drawing/2014/main" id="{94C00043-2A2B-990C-E4A6-023E864C8CDC}"/>
              </a:ext>
            </a:extLst>
          </p:cNvPr>
          <p:cNvSpPr/>
          <p:nvPr/>
        </p:nvSpPr>
        <p:spPr>
          <a:xfrm>
            <a:off x="3740352" y="1587398"/>
            <a:ext cx="4710988" cy="4710988"/>
          </a:xfrm>
          <a:custGeom>
            <a:avLst/>
            <a:gdLst>
              <a:gd name="connsiteX0" fmla="*/ 4710989 w 4710988"/>
              <a:gd name="connsiteY0" fmla="*/ 2355495 h 4710988"/>
              <a:gd name="connsiteX1" fmla="*/ 2355495 w 4710988"/>
              <a:gd name="connsiteY1" fmla="*/ 4710989 h 4710988"/>
              <a:gd name="connsiteX2" fmla="*/ 0 w 4710988"/>
              <a:gd name="connsiteY2" fmla="*/ 2355495 h 4710988"/>
              <a:gd name="connsiteX3" fmla="*/ 2355495 w 4710988"/>
              <a:gd name="connsiteY3" fmla="*/ 0 h 4710988"/>
              <a:gd name="connsiteX4" fmla="*/ 4710989 w 4710988"/>
              <a:gd name="connsiteY4" fmla="*/ 2355495 h 47109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10988" h="4710988">
                <a:moveTo>
                  <a:pt x="4710989" y="2355495"/>
                </a:moveTo>
                <a:cubicBezTo>
                  <a:pt x="4710989" y="3656398"/>
                  <a:pt x="3656398" y="4710989"/>
                  <a:pt x="2355495" y="4710989"/>
                </a:cubicBezTo>
                <a:cubicBezTo>
                  <a:pt x="1054591" y="4710989"/>
                  <a:pt x="0" y="3656398"/>
                  <a:pt x="0" y="2355495"/>
                </a:cubicBezTo>
                <a:cubicBezTo>
                  <a:pt x="0" y="1054591"/>
                  <a:pt x="1054591" y="0"/>
                  <a:pt x="2355495" y="0"/>
                </a:cubicBezTo>
                <a:cubicBezTo>
                  <a:pt x="3656398" y="0"/>
                  <a:pt x="4710989" y="1054591"/>
                  <a:pt x="4710989" y="2355495"/>
                </a:cubicBezTo>
                <a:close/>
              </a:path>
            </a:pathLst>
          </a:custGeom>
          <a:solidFill>
            <a:srgbClr val="EFE8FB"/>
          </a:solidFill>
          <a:ln w="51175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9FFDE7D2-EA93-FD69-B37F-2084303368AA}"/>
              </a:ext>
            </a:extLst>
          </p:cNvPr>
          <p:cNvSpPr/>
          <p:nvPr/>
        </p:nvSpPr>
        <p:spPr>
          <a:xfrm>
            <a:off x="3305099" y="2710282"/>
            <a:ext cx="1945843" cy="2560320"/>
          </a:xfrm>
          <a:custGeom>
            <a:avLst/>
            <a:gdLst>
              <a:gd name="connsiteX0" fmla="*/ 0 w 1945843"/>
              <a:gd name="connsiteY0" fmla="*/ 921715 h 2560320"/>
              <a:gd name="connsiteX1" fmla="*/ 972922 w 1945843"/>
              <a:gd name="connsiteY1" fmla="*/ 0 h 2560320"/>
              <a:gd name="connsiteX2" fmla="*/ 1945843 w 1945843"/>
              <a:gd name="connsiteY2" fmla="*/ 921715 h 2560320"/>
              <a:gd name="connsiteX3" fmla="*/ 1945843 w 1945843"/>
              <a:gd name="connsiteY3" fmla="*/ 2560320 h 2560320"/>
              <a:gd name="connsiteX4" fmla="*/ 0 w 1945843"/>
              <a:gd name="connsiteY4" fmla="*/ 2560320 h 2560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45843" h="2560320">
                <a:moveTo>
                  <a:pt x="0" y="921715"/>
                </a:moveTo>
                <a:lnTo>
                  <a:pt x="972922" y="0"/>
                </a:lnTo>
                <a:lnTo>
                  <a:pt x="1945843" y="921715"/>
                </a:lnTo>
                <a:lnTo>
                  <a:pt x="1945843" y="2560320"/>
                </a:lnTo>
                <a:lnTo>
                  <a:pt x="0" y="2560320"/>
                </a:lnTo>
                <a:close/>
              </a:path>
            </a:pathLst>
          </a:custGeom>
          <a:solidFill>
            <a:srgbClr val="FFFFFF"/>
          </a:solidFill>
          <a:ln w="179113" cap="flat">
            <a:solidFill>
              <a:srgbClr val="4D0DAB"/>
            </a:solidFill>
            <a:prstDash val="solid"/>
            <a:round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793D84E1-B484-F427-6C86-90C5A5A2F665}"/>
              </a:ext>
            </a:extLst>
          </p:cNvPr>
          <p:cNvSpPr/>
          <p:nvPr/>
        </p:nvSpPr>
        <p:spPr>
          <a:xfrm>
            <a:off x="3868369" y="4246474"/>
            <a:ext cx="819302" cy="1024128"/>
          </a:xfrm>
          <a:custGeom>
            <a:avLst/>
            <a:gdLst>
              <a:gd name="connsiteX0" fmla="*/ 0 w 819302"/>
              <a:gd name="connsiteY0" fmla="*/ 1024128 h 1024128"/>
              <a:gd name="connsiteX1" fmla="*/ 0 w 819302"/>
              <a:gd name="connsiteY1" fmla="*/ 0 h 1024128"/>
              <a:gd name="connsiteX2" fmla="*/ 819302 w 819302"/>
              <a:gd name="connsiteY2" fmla="*/ 0 h 1024128"/>
              <a:gd name="connsiteX3" fmla="*/ 819302 w 819302"/>
              <a:gd name="connsiteY3" fmla="*/ 1024128 h 10241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19302" h="1024128">
                <a:moveTo>
                  <a:pt x="0" y="1024128"/>
                </a:moveTo>
                <a:lnTo>
                  <a:pt x="0" y="0"/>
                </a:lnTo>
                <a:lnTo>
                  <a:pt x="819302" y="0"/>
                </a:lnTo>
                <a:lnTo>
                  <a:pt x="819302" y="1024128"/>
                </a:lnTo>
              </a:path>
            </a:pathLst>
          </a:custGeom>
          <a:noFill/>
          <a:ln w="153526" cap="flat">
            <a:solidFill>
              <a:srgbClr val="4D0DAB"/>
            </a:solidFill>
            <a:prstDash val="solid"/>
            <a:round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D2C23EF8-79F5-A8C8-92DB-A0EEB50FA98C}"/>
              </a:ext>
            </a:extLst>
          </p:cNvPr>
          <p:cNvSpPr/>
          <p:nvPr/>
        </p:nvSpPr>
        <p:spPr>
          <a:xfrm>
            <a:off x="7043165" y="2710282"/>
            <a:ext cx="768096" cy="2560320"/>
          </a:xfrm>
          <a:custGeom>
            <a:avLst/>
            <a:gdLst>
              <a:gd name="connsiteX0" fmla="*/ 0 w 768096"/>
              <a:gd name="connsiteY0" fmla="*/ 0 h 2560320"/>
              <a:gd name="connsiteX1" fmla="*/ 768096 w 768096"/>
              <a:gd name="connsiteY1" fmla="*/ 0 h 2560320"/>
              <a:gd name="connsiteX2" fmla="*/ 768096 w 768096"/>
              <a:gd name="connsiteY2" fmla="*/ 2560320 h 2560320"/>
              <a:gd name="connsiteX3" fmla="*/ 0 w 768096"/>
              <a:gd name="connsiteY3" fmla="*/ 2560320 h 2560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68096" h="2560320">
                <a:moveTo>
                  <a:pt x="0" y="0"/>
                </a:moveTo>
                <a:lnTo>
                  <a:pt x="768096" y="0"/>
                </a:lnTo>
                <a:lnTo>
                  <a:pt x="768096" y="2560320"/>
                </a:lnTo>
                <a:lnTo>
                  <a:pt x="0" y="2560320"/>
                </a:lnTo>
                <a:close/>
              </a:path>
            </a:pathLst>
          </a:custGeom>
          <a:solidFill>
            <a:srgbClr val="BFBFBF"/>
          </a:solidFill>
          <a:ln w="51175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9" name="Forme libre : forme 8">
            <a:extLst>
              <a:ext uri="{FF2B5EF4-FFF2-40B4-BE49-F238E27FC236}">
                <a16:creationId xmlns:a16="http://schemas.microsoft.com/office/drawing/2014/main" id="{1967CF16-2751-C61E-A161-70FD08B85F30}"/>
              </a:ext>
            </a:extLst>
          </p:cNvPr>
          <p:cNvSpPr/>
          <p:nvPr/>
        </p:nvSpPr>
        <p:spPr>
          <a:xfrm>
            <a:off x="7811261" y="2710282"/>
            <a:ext cx="768096" cy="2560320"/>
          </a:xfrm>
          <a:custGeom>
            <a:avLst/>
            <a:gdLst>
              <a:gd name="connsiteX0" fmla="*/ 0 w 768096"/>
              <a:gd name="connsiteY0" fmla="*/ 0 h 2560320"/>
              <a:gd name="connsiteX1" fmla="*/ 768096 w 768096"/>
              <a:gd name="connsiteY1" fmla="*/ 0 h 2560320"/>
              <a:gd name="connsiteX2" fmla="*/ 768096 w 768096"/>
              <a:gd name="connsiteY2" fmla="*/ 2560320 h 2560320"/>
              <a:gd name="connsiteX3" fmla="*/ 0 w 768096"/>
              <a:gd name="connsiteY3" fmla="*/ 2560320 h 2560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68096" h="2560320">
                <a:moveTo>
                  <a:pt x="0" y="0"/>
                </a:moveTo>
                <a:lnTo>
                  <a:pt x="768096" y="0"/>
                </a:lnTo>
                <a:lnTo>
                  <a:pt x="768096" y="2560320"/>
                </a:lnTo>
                <a:lnTo>
                  <a:pt x="0" y="2560320"/>
                </a:lnTo>
                <a:close/>
              </a:path>
            </a:pathLst>
          </a:custGeom>
          <a:solidFill>
            <a:srgbClr val="FEF6B6"/>
          </a:solidFill>
          <a:ln w="51175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4AC45BF8-81AC-53C3-C5D9-CEA2DBCC7EDE}"/>
              </a:ext>
            </a:extLst>
          </p:cNvPr>
          <p:cNvSpPr/>
          <p:nvPr/>
        </p:nvSpPr>
        <p:spPr>
          <a:xfrm>
            <a:off x="7811261" y="2710282"/>
            <a:ext cx="51206" cy="2560320"/>
          </a:xfrm>
          <a:custGeom>
            <a:avLst/>
            <a:gdLst>
              <a:gd name="connsiteX0" fmla="*/ 0 w 51206"/>
              <a:gd name="connsiteY0" fmla="*/ 0 h 2560320"/>
              <a:gd name="connsiteX1" fmla="*/ 0 w 51206"/>
              <a:gd name="connsiteY1" fmla="*/ 2560320 h 2560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1206" h="2560320">
                <a:moveTo>
                  <a:pt x="0" y="0"/>
                </a:moveTo>
                <a:lnTo>
                  <a:pt x="0" y="2560320"/>
                </a:lnTo>
              </a:path>
            </a:pathLst>
          </a:custGeom>
          <a:solidFill>
            <a:srgbClr val="000000"/>
          </a:solidFill>
          <a:ln w="127938" cap="flat">
            <a:solidFill>
              <a:srgbClr val="00294B"/>
            </a:solidFill>
            <a:custDash>
              <a:ds d="300000" sp="300000"/>
            </a:custDash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1" name="Forme libre : forme 10">
            <a:extLst>
              <a:ext uri="{FF2B5EF4-FFF2-40B4-BE49-F238E27FC236}">
                <a16:creationId xmlns:a16="http://schemas.microsoft.com/office/drawing/2014/main" id="{BBB0256C-EFF2-6723-9E89-DC71407F451F}"/>
              </a:ext>
            </a:extLst>
          </p:cNvPr>
          <p:cNvSpPr/>
          <p:nvPr/>
        </p:nvSpPr>
        <p:spPr>
          <a:xfrm>
            <a:off x="7043165" y="2710282"/>
            <a:ext cx="1536192" cy="2560320"/>
          </a:xfrm>
          <a:custGeom>
            <a:avLst/>
            <a:gdLst>
              <a:gd name="connsiteX0" fmla="*/ 0 w 1536192"/>
              <a:gd name="connsiteY0" fmla="*/ 0 h 2560320"/>
              <a:gd name="connsiteX1" fmla="*/ 1536192 w 1536192"/>
              <a:gd name="connsiteY1" fmla="*/ 0 h 2560320"/>
              <a:gd name="connsiteX2" fmla="*/ 1536192 w 1536192"/>
              <a:gd name="connsiteY2" fmla="*/ 2560320 h 2560320"/>
              <a:gd name="connsiteX3" fmla="*/ 0 w 1536192"/>
              <a:gd name="connsiteY3" fmla="*/ 2560320 h 2560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36192" h="2560320">
                <a:moveTo>
                  <a:pt x="0" y="0"/>
                </a:moveTo>
                <a:lnTo>
                  <a:pt x="1536192" y="0"/>
                </a:lnTo>
                <a:lnTo>
                  <a:pt x="1536192" y="2560320"/>
                </a:lnTo>
                <a:lnTo>
                  <a:pt x="0" y="2560320"/>
                </a:lnTo>
                <a:close/>
              </a:path>
            </a:pathLst>
          </a:custGeom>
          <a:noFill/>
          <a:ln w="179113" cap="flat">
            <a:solidFill>
              <a:srgbClr val="00294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2" name="Forme libre : forme 11">
            <a:extLst>
              <a:ext uri="{FF2B5EF4-FFF2-40B4-BE49-F238E27FC236}">
                <a16:creationId xmlns:a16="http://schemas.microsoft.com/office/drawing/2014/main" id="{46E57938-3CBC-64E1-163B-5FC640F6036F}"/>
              </a:ext>
            </a:extLst>
          </p:cNvPr>
          <p:cNvSpPr/>
          <p:nvPr/>
        </p:nvSpPr>
        <p:spPr>
          <a:xfrm>
            <a:off x="5041392" y="2043459"/>
            <a:ext cx="1408175" cy="509049"/>
          </a:xfrm>
          <a:custGeom>
            <a:avLst/>
            <a:gdLst>
              <a:gd name="connsiteX0" fmla="*/ 0 w 1024128"/>
              <a:gd name="connsiteY0" fmla="*/ 509049 h 509049"/>
              <a:gd name="connsiteX1" fmla="*/ 1024128 w 1024128"/>
              <a:gd name="connsiteY1" fmla="*/ 201811 h 5090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24128" h="509049">
                <a:moveTo>
                  <a:pt x="0" y="509049"/>
                </a:moveTo>
                <a:cubicBezTo>
                  <a:pt x="358445" y="-105428"/>
                  <a:pt x="819302" y="-105428"/>
                  <a:pt x="1024128" y="201811"/>
                </a:cubicBezTo>
              </a:path>
            </a:pathLst>
          </a:custGeom>
          <a:noFill/>
          <a:ln w="179113" cap="rnd">
            <a:solidFill>
              <a:srgbClr val="4D0DA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3" name="Forme libre : forme 12">
            <a:extLst>
              <a:ext uri="{FF2B5EF4-FFF2-40B4-BE49-F238E27FC236}">
                <a16:creationId xmlns:a16="http://schemas.microsoft.com/office/drawing/2014/main" id="{FC859FC7-3527-4DB4-3FA0-8EBB2D8108AC}"/>
              </a:ext>
            </a:extLst>
          </p:cNvPr>
          <p:cNvSpPr/>
          <p:nvPr/>
        </p:nvSpPr>
        <p:spPr>
          <a:xfrm rot="1545748">
            <a:off x="6449567" y="2091651"/>
            <a:ext cx="358444" cy="460857"/>
          </a:xfrm>
          <a:custGeom>
            <a:avLst/>
            <a:gdLst>
              <a:gd name="connsiteX0" fmla="*/ 51206 w 358444"/>
              <a:gd name="connsiteY0" fmla="*/ 0 h 460857"/>
              <a:gd name="connsiteX1" fmla="*/ 358445 w 358444"/>
              <a:gd name="connsiteY1" fmla="*/ 256032 h 460857"/>
              <a:gd name="connsiteX2" fmla="*/ 0 w 358444"/>
              <a:gd name="connsiteY2" fmla="*/ 460858 h 4608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8444" h="460857">
                <a:moveTo>
                  <a:pt x="51206" y="0"/>
                </a:moveTo>
                <a:lnTo>
                  <a:pt x="358445" y="256032"/>
                </a:lnTo>
                <a:lnTo>
                  <a:pt x="0" y="460858"/>
                </a:lnTo>
              </a:path>
            </a:pathLst>
          </a:custGeom>
          <a:noFill/>
          <a:ln w="179113" cap="rnd">
            <a:solidFill>
              <a:srgbClr val="4D0DAB"/>
            </a:solidFill>
            <a:prstDash val="solid"/>
            <a:round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4" name="Forme libre : forme 13">
            <a:extLst>
              <a:ext uri="{FF2B5EF4-FFF2-40B4-BE49-F238E27FC236}">
                <a16:creationId xmlns:a16="http://schemas.microsoft.com/office/drawing/2014/main" id="{8F6CD644-3DE2-ED50-7568-8437BC25BE16}"/>
              </a:ext>
            </a:extLst>
          </p:cNvPr>
          <p:cNvSpPr/>
          <p:nvPr/>
        </p:nvSpPr>
        <p:spPr>
          <a:xfrm>
            <a:off x="5815717" y="5669365"/>
            <a:ext cx="1103019" cy="321416"/>
          </a:xfrm>
          <a:custGeom>
            <a:avLst/>
            <a:gdLst>
              <a:gd name="connsiteX0" fmla="*/ 1024128 w 1024128"/>
              <a:gd name="connsiteY0" fmla="*/ 0 h 321416"/>
              <a:gd name="connsiteX1" fmla="*/ 0 w 1024128"/>
              <a:gd name="connsiteY1" fmla="*/ 102413 h 3214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24128" h="321416">
                <a:moveTo>
                  <a:pt x="1024128" y="0"/>
                </a:moveTo>
                <a:cubicBezTo>
                  <a:pt x="665683" y="409651"/>
                  <a:pt x="204826" y="409651"/>
                  <a:pt x="0" y="102413"/>
                </a:cubicBezTo>
              </a:path>
            </a:pathLst>
          </a:custGeom>
          <a:noFill/>
          <a:ln w="179113" cap="rnd">
            <a:solidFill>
              <a:srgbClr val="4D0DA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5" name="Forme libre : forme 14">
            <a:extLst>
              <a:ext uri="{FF2B5EF4-FFF2-40B4-BE49-F238E27FC236}">
                <a16:creationId xmlns:a16="http://schemas.microsoft.com/office/drawing/2014/main" id="{F849DA7E-4823-DFC5-11C9-995E415B2F34}"/>
              </a:ext>
            </a:extLst>
          </p:cNvPr>
          <p:cNvSpPr/>
          <p:nvPr/>
        </p:nvSpPr>
        <p:spPr>
          <a:xfrm rot="2228898">
            <a:off x="5486924" y="5422589"/>
            <a:ext cx="358444" cy="460857"/>
          </a:xfrm>
          <a:custGeom>
            <a:avLst/>
            <a:gdLst>
              <a:gd name="connsiteX0" fmla="*/ 307238 w 358444"/>
              <a:gd name="connsiteY0" fmla="*/ 460858 h 460857"/>
              <a:gd name="connsiteX1" fmla="*/ 0 w 358444"/>
              <a:gd name="connsiteY1" fmla="*/ 204826 h 460857"/>
              <a:gd name="connsiteX2" fmla="*/ 358445 w 358444"/>
              <a:gd name="connsiteY2" fmla="*/ 0 h 4608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8444" h="460857">
                <a:moveTo>
                  <a:pt x="307238" y="460858"/>
                </a:moveTo>
                <a:lnTo>
                  <a:pt x="0" y="204826"/>
                </a:lnTo>
                <a:lnTo>
                  <a:pt x="358445" y="0"/>
                </a:lnTo>
              </a:path>
            </a:pathLst>
          </a:custGeom>
          <a:noFill/>
          <a:ln w="179113" cap="rnd">
            <a:solidFill>
              <a:srgbClr val="4D0DAB"/>
            </a:solidFill>
            <a:prstDash val="solid"/>
            <a:round/>
          </a:ln>
        </p:spPr>
        <p:txBody>
          <a:bodyPr rtlCol="0" anchor="ctr"/>
          <a:lstStyle/>
          <a:p>
            <a:endParaRPr lang="fr-F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assets/03-contents/toc-introduction.svg</a:t>
            </a:r>
          </a:p>
        </p:txBody>
      </p:sp>
      <p:pic>
        <p:nvPicPr>
          <p:cNvPr id="3" name="Picture 2" descr="toc-introduction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9495" y="1280160"/>
            <a:ext cx="563270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assets/03-contents/toc-physical.svg</a:t>
            </a:r>
          </a:p>
        </p:txBody>
      </p:sp>
      <p:sp>
        <p:nvSpPr>
          <p:cNvPr id="5" name="Forme libre : forme 4">
            <a:extLst>
              <a:ext uri="{FF2B5EF4-FFF2-40B4-BE49-F238E27FC236}">
                <a16:creationId xmlns:a16="http://schemas.microsoft.com/office/drawing/2014/main" id="{54AC4A84-9830-0021-8151-C1682113CCFE}"/>
              </a:ext>
            </a:extLst>
          </p:cNvPr>
          <p:cNvSpPr/>
          <p:nvPr/>
        </p:nvSpPr>
        <p:spPr>
          <a:xfrm>
            <a:off x="3740352" y="1587398"/>
            <a:ext cx="4710988" cy="4710988"/>
          </a:xfrm>
          <a:custGeom>
            <a:avLst/>
            <a:gdLst>
              <a:gd name="connsiteX0" fmla="*/ 4710989 w 4710988"/>
              <a:gd name="connsiteY0" fmla="*/ 2355495 h 4710988"/>
              <a:gd name="connsiteX1" fmla="*/ 2355495 w 4710988"/>
              <a:gd name="connsiteY1" fmla="*/ 4710989 h 4710988"/>
              <a:gd name="connsiteX2" fmla="*/ 0 w 4710988"/>
              <a:gd name="connsiteY2" fmla="*/ 2355495 h 4710988"/>
              <a:gd name="connsiteX3" fmla="*/ 2355495 w 4710988"/>
              <a:gd name="connsiteY3" fmla="*/ 0 h 4710988"/>
              <a:gd name="connsiteX4" fmla="*/ 4710989 w 4710988"/>
              <a:gd name="connsiteY4" fmla="*/ 2355495 h 47109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10988" h="4710988">
                <a:moveTo>
                  <a:pt x="4710989" y="2355495"/>
                </a:moveTo>
                <a:cubicBezTo>
                  <a:pt x="4710989" y="3656398"/>
                  <a:pt x="3656398" y="4710989"/>
                  <a:pt x="2355495" y="4710989"/>
                </a:cubicBezTo>
                <a:cubicBezTo>
                  <a:pt x="1054591" y="4710989"/>
                  <a:pt x="0" y="3656398"/>
                  <a:pt x="0" y="2355495"/>
                </a:cubicBezTo>
                <a:cubicBezTo>
                  <a:pt x="0" y="1054591"/>
                  <a:pt x="1054591" y="0"/>
                  <a:pt x="2355495" y="0"/>
                </a:cubicBezTo>
                <a:cubicBezTo>
                  <a:pt x="3656398" y="0"/>
                  <a:pt x="4710989" y="1054591"/>
                  <a:pt x="4710989" y="2355495"/>
                </a:cubicBezTo>
                <a:close/>
              </a:path>
            </a:pathLst>
          </a:custGeom>
          <a:solidFill>
            <a:srgbClr val="E9EEF4"/>
          </a:solidFill>
          <a:ln w="51175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FAD0EC8D-34CE-62A6-E5B1-36D36321DF44}"/>
              </a:ext>
            </a:extLst>
          </p:cNvPr>
          <p:cNvSpPr/>
          <p:nvPr/>
        </p:nvSpPr>
        <p:spPr>
          <a:xfrm>
            <a:off x="5327751" y="1997049"/>
            <a:ext cx="1244796" cy="3891686"/>
          </a:xfrm>
          <a:custGeom>
            <a:avLst/>
            <a:gdLst>
              <a:gd name="connsiteX0" fmla="*/ 0 w 1244796"/>
              <a:gd name="connsiteY0" fmla="*/ 0 h 3891686"/>
              <a:gd name="connsiteX1" fmla="*/ 1126541 w 1244796"/>
              <a:gd name="connsiteY1" fmla="*/ 0 h 3891686"/>
              <a:gd name="connsiteX2" fmla="*/ 1126541 w 1244796"/>
              <a:gd name="connsiteY2" fmla="*/ 1945843 h 3891686"/>
              <a:gd name="connsiteX3" fmla="*/ 1126541 w 1244796"/>
              <a:gd name="connsiteY3" fmla="*/ 3891687 h 3891686"/>
              <a:gd name="connsiteX4" fmla="*/ 0 w 1244796"/>
              <a:gd name="connsiteY4" fmla="*/ 3891687 h 3891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4796" h="3891686">
                <a:moveTo>
                  <a:pt x="0" y="0"/>
                </a:moveTo>
                <a:lnTo>
                  <a:pt x="1126541" y="0"/>
                </a:lnTo>
                <a:cubicBezTo>
                  <a:pt x="716890" y="614477"/>
                  <a:pt x="1536192" y="1331366"/>
                  <a:pt x="1126541" y="1945843"/>
                </a:cubicBezTo>
                <a:cubicBezTo>
                  <a:pt x="716890" y="2560320"/>
                  <a:pt x="1536192" y="3277210"/>
                  <a:pt x="1126541" y="3891687"/>
                </a:cubicBezTo>
                <a:lnTo>
                  <a:pt x="0" y="3891687"/>
                </a:lnTo>
                <a:close/>
              </a:path>
            </a:pathLst>
          </a:custGeom>
          <a:solidFill>
            <a:srgbClr val="BFBFBF"/>
          </a:solidFill>
          <a:ln w="51175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A71A952B-2DD5-1356-8D01-7D5B844A7E7B}"/>
              </a:ext>
            </a:extLst>
          </p:cNvPr>
          <p:cNvSpPr/>
          <p:nvPr/>
        </p:nvSpPr>
        <p:spPr>
          <a:xfrm>
            <a:off x="6336035" y="1997049"/>
            <a:ext cx="1039971" cy="3891686"/>
          </a:xfrm>
          <a:custGeom>
            <a:avLst/>
            <a:gdLst>
              <a:gd name="connsiteX0" fmla="*/ 118256 w 1039971"/>
              <a:gd name="connsiteY0" fmla="*/ 0 h 3891686"/>
              <a:gd name="connsiteX1" fmla="*/ 1039971 w 1039971"/>
              <a:gd name="connsiteY1" fmla="*/ 0 h 3891686"/>
              <a:gd name="connsiteX2" fmla="*/ 1039971 w 1039971"/>
              <a:gd name="connsiteY2" fmla="*/ 3891687 h 3891686"/>
              <a:gd name="connsiteX3" fmla="*/ 118256 w 1039971"/>
              <a:gd name="connsiteY3" fmla="*/ 3891687 h 3891686"/>
              <a:gd name="connsiteX4" fmla="*/ 118256 w 1039971"/>
              <a:gd name="connsiteY4" fmla="*/ 1945843 h 3891686"/>
              <a:gd name="connsiteX5" fmla="*/ 118256 w 1039971"/>
              <a:gd name="connsiteY5" fmla="*/ 0 h 3891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39971" h="3891686">
                <a:moveTo>
                  <a:pt x="118256" y="0"/>
                </a:moveTo>
                <a:lnTo>
                  <a:pt x="1039971" y="0"/>
                </a:lnTo>
                <a:lnTo>
                  <a:pt x="1039971" y="3891687"/>
                </a:lnTo>
                <a:lnTo>
                  <a:pt x="118256" y="3891687"/>
                </a:lnTo>
                <a:cubicBezTo>
                  <a:pt x="527907" y="3277210"/>
                  <a:pt x="-291395" y="2560320"/>
                  <a:pt x="118256" y="1945843"/>
                </a:cubicBezTo>
                <a:cubicBezTo>
                  <a:pt x="527907" y="1331366"/>
                  <a:pt x="-291395" y="614477"/>
                  <a:pt x="118256" y="0"/>
                </a:cubicBezTo>
                <a:close/>
              </a:path>
            </a:pathLst>
          </a:custGeom>
          <a:solidFill>
            <a:srgbClr val="FEF6B6"/>
          </a:solidFill>
          <a:ln w="51175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1959A8B1-73CB-C5BE-48C9-538F74DB1EE6}"/>
              </a:ext>
            </a:extLst>
          </p:cNvPr>
          <p:cNvSpPr/>
          <p:nvPr/>
        </p:nvSpPr>
        <p:spPr>
          <a:xfrm>
            <a:off x="6336035" y="1997049"/>
            <a:ext cx="236512" cy="3891686"/>
          </a:xfrm>
          <a:custGeom>
            <a:avLst/>
            <a:gdLst>
              <a:gd name="connsiteX0" fmla="*/ 118256 w 236512"/>
              <a:gd name="connsiteY0" fmla="*/ 0 h 3891686"/>
              <a:gd name="connsiteX1" fmla="*/ 118256 w 236512"/>
              <a:gd name="connsiteY1" fmla="*/ 1945843 h 3891686"/>
              <a:gd name="connsiteX2" fmla="*/ 118256 w 236512"/>
              <a:gd name="connsiteY2" fmla="*/ 3891687 h 3891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36512" h="3891686">
                <a:moveTo>
                  <a:pt x="118256" y="0"/>
                </a:moveTo>
                <a:cubicBezTo>
                  <a:pt x="-291395" y="614477"/>
                  <a:pt x="527907" y="1331366"/>
                  <a:pt x="118256" y="1945843"/>
                </a:cubicBezTo>
                <a:cubicBezTo>
                  <a:pt x="-291395" y="2560320"/>
                  <a:pt x="527907" y="3277210"/>
                  <a:pt x="118256" y="3891687"/>
                </a:cubicBezTo>
              </a:path>
            </a:pathLst>
          </a:custGeom>
          <a:noFill/>
          <a:ln w="127938" cap="flat">
            <a:solidFill>
              <a:srgbClr val="00294B"/>
            </a:solidFill>
            <a:custDash>
              <a:ds d="375000" sp="300000"/>
            </a:custDash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9" name="Forme libre : forme 8">
            <a:extLst>
              <a:ext uri="{FF2B5EF4-FFF2-40B4-BE49-F238E27FC236}">
                <a16:creationId xmlns:a16="http://schemas.microsoft.com/office/drawing/2014/main" id="{771034E5-B9B1-B89F-BEEA-0B5C8A3093C3}"/>
              </a:ext>
            </a:extLst>
          </p:cNvPr>
          <p:cNvSpPr/>
          <p:nvPr/>
        </p:nvSpPr>
        <p:spPr>
          <a:xfrm>
            <a:off x="5327751" y="1997049"/>
            <a:ext cx="2048256" cy="3891686"/>
          </a:xfrm>
          <a:custGeom>
            <a:avLst/>
            <a:gdLst>
              <a:gd name="connsiteX0" fmla="*/ 0 w 2048256"/>
              <a:gd name="connsiteY0" fmla="*/ 0 h 3891686"/>
              <a:gd name="connsiteX1" fmla="*/ 2048256 w 2048256"/>
              <a:gd name="connsiteY1" fmla="*/ 0 h 3891686"/>
              <a:gd name="connsiteX2" fmla="*/ 2048256 w 2048256"/>
              <a:gd name="connsiteY2" fmla="*/ 3891687 h 3891686"/>
              <a:gd name="connsiteX3" fmla="*/ 0 w 2048256"/>
              <a:gd name="connsiteY3" fmla="*/ 3891687 h 3891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48256" h="3891686">
                <a:moveTo>
                  <a:pt x="0" y="0"/>
                </a:moveTo>
                <a:lnTo>
                  <a:pt x="2048256" y="0"/>
                </a:lnTo>
                <a:lnTo>
                  <a:pt x="2048256" y="3891687"/>
                </a:lnTo>
                <a:lnTo>
                  <a:pt x="0" y="3891687"/>
                </a:lnTo>
                <a:close/>
              </a:path>
            </a:pathLst>
          </a:custGeom>
          <a:noFill/>
          <a:ln w="179113" cap="flat">
            <a:solidFill>
              <a:srgbClr val="00294B"/>
            </a:solidFill>
            <a:prstDash val="solid"/>
            <a:round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8DE02BEA-38F8-97A6-7EC6-D4F30860EF81}"/>
              </a:ext>
            </a:extLst>
          </p:cNvPr>
          <p:cNvSpPr/>
          <p:nvPr/>
        </p:nvSpPr>
        <p:spPr>
          <a:xfrm>
            <a:off x="3893971" y="3021177"/>
            <a:ext cx="1126540" cy="1843430"/>
          </a:xfrm>
          <a:custGeom>
            <a:avLst/>
            <a:gdLst>
              <a:gd name="connsiteX0" fmla="*/ 0 w 1126540"/>
              <a:gd name="connsiteY0" fmla="*/ 0 h 1843430"/>
              <a:gd name="connsiteX1" fmla="*/ 1126541 w 1126540"/>
              <a:gd name="connsiteY1" fmla="*/ 0 h 1843430"/>
              <a:gd name="connsiteX2" fmla="*/ 0 w 1126540"/>
              <a:gd name="connsiteY2" fmla="*/ 921715 h 1843430"/>
              <a:gd name="connsiteX3" fmla="*/ 1126541 w 1126540"/>
              <a:gd name="connsiteY3" fmla="*/ 921715 h 1843430"/>
              <a:gd name="connsiteX4" fmla="*/ 0 w 1126540"/>
              <a:gd name="connsiteY4" fmla="*/ 1843430 h 1843430"/>
              <a:gd name="connsiteX5" fmla="*/ 1126541 w 1126540"/>
              <a:gd name="connsiteY5" fmla="*/ 1843430 h 18434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26540" h="1843430">
                <a:moveTo>
                  <a:pt x="0" y="0"/>
                </a:moveTo>
                <a:lnTo>
                  <a:pt x="1126541" y="0"/>
                </a:lnTo>
                <a:moveTo>
                  <a:pt x="0" y="921715"/>
                </a:moveTo>
                <a:lnTo>
                  <a:pt x="1126541" y="921715"/>
                </a:lnTo>
                <a:moveTo>
                  <a:pt x="0" y="1843430"/>
                </a:moveTo>
                <a:lnTo>
                  <a:pt x="1126541" y="1843430"/>
                </a:lnTo>
              </a:path>
            </a:pathLst>
          </a:custGeom>
          <a:solidFill>
            <a:srgbClr val="000000"/>
          </a:solidFill>
          <a:ln w="179113" cap="rnd">
            <a:solidFill>
              <a:srgbClr val="C0392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1" name="Forme libre : forme 10">
            <a:extLst>
              <a:ext uri="{FF2B5EF4-FFF2-40B4-BE49-F238E27FC236}">
                <a16:creationId xmlns:a16="http://schemas.microsoft.com/office/drawing/2014/main" id="{7FE67CFC-CC90-0FA8-0335-0D3E9CA45B98}"/>
              </a:ext>
            </a:extLst>
          </p:cNvPr>
          <p:cNvSpPr/>
          <p:nvPr/>
        </p:nvSpPr>
        <p:spPr>
          <a:xfrm>
            <a:off x="4713274" y="2713939"/>
            <a:ext cx="307238" cy="2457907"/>
          </a:xfrm>
          <a:custGeom>
            <a:avLst/>
            <a:gdLst>
              <a:gd name="connsiteX0" fmla="*/ 0 w 307238"/>
              <a:gd name="connsiteY0" fmla="*/ 0 h 2457907"/>
              <a:gd name="connsiteX1" fmla="*/ 307238 w 307238"/>
              <a:gd name="connsiteY1" fmla="*/ 307238 h 2457907"/>
              <a:gd name="connsiteX2" fmla="*/ 0 w 307238"/>
              <a:gd name="connsiteY2" fmla="*/ 614477 h 2457907"/>
              <a:gd name="connsiteX3" fmla="*/ 0 w 307238"/>
              <a:gd name="connsiteY3" fmla="*/ 921715 h 2457907"/>
              <a:gd name="connsiteX4" fmla="*/ 307238 w 307238"/>
              <a:gd name="connsiteY4" fmla="*/ 1228954 h 2457907"/>
              <a:gd name="connsiteX5" fmla="*/ 0 w 307238"/>
              <a:gd name="connsiteY5" fmla="*/ 1536192 h 2457907"/>
              <a:gd name="connsiteX6" fmla="*/ 0 w 307238"/>
              <a:gd name="connsiteY6" fmla="*/ 1843430 h 2457907"/>
              <a:gd name="connsiteX7" fmla="*/ 307238 w 307238"/>
              <a:gd name="connsiteY7" fmla="*/ 2150669 h 2457907"/>
              <a:gd name="connsiteX8" fmla="*/ 0 w 307238"/>
              <a:gd name="connsiteY8" fmla="*/ 2457907 h 24579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07238" h="2457907">
                <a:moveTo>
                  <a:pt x="0" y="0"/>
                </a:moveTo>
                <a:lnTo>
                  <a:pt x="307238" y="307238"/>
                </a:lnTo>
                <a:lnTo>
                  <a:pt x="0" y="614477"/>
                </a:lnTo>
                <a:moveTo>
                  <a:pt x="0" y="921715"/>
                </a:moveTo>
                <a:lnTo>
                  <a:pt x="307238" y="1228954"/>
                </a:lnTo>
                <a:lnTo>
                  <a:pt x="0" y="1536192"/>
                </a:lnTo>
                <a:moveTo>
                  <a:pt x="0" y="1843430"/>
                </a:moveTo>
                <a:lnTo>
                  <a:pt x="307238" y="2150669"/>
                </a:lnTo>
                <a:lnTo>
                  <a:pt x="0" y="2457907"/>
                </a:lnTo>
              </a:path>
            </a:pathLst>
          </a:custGeom>
          <a:noFill/>
          <a:ln w="179113" cap="rnd">
            <a:solidFill>
              <a:srgbClr val="C0392B"/>
            </a:solidFill>
            <a:prstDash val="solid"/>
            <a:round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2" name="Forme libre : forme 11">
            <a:extLst>
              <a:ext uri="{FF2B5EF4-FFF2-40B4-BE49-F238E27FC236}">
                <a16:creationId xmlns:a16="http://schemas.microsoft.com/office/drawing/2014/main" id="{070C56F2-5D15-8D78-35F6-1C698D3794BF}"/>
              </a:ext>
            </a:extLst>
          </p:cNvPr>
          <p:cNvSpPr/>
          <p:nvPr/>
        </p:nvSpPr>
        <p:spPr>
          <a:xfrm>
            <a:off x="7683244" y="2816352"/>
            <a:ext cx="460857" cy="2253081"/>
          </a:xfrm>
          <a:custGeom>
            <a:avLst/>
            <a:gdLst>
              <a:gd name="connsiteX0" fmla="*/ 230429 w 460857"/>
              <a:gd name="connsiteY0" fmla="*/ 0 h 2253081"/>
              <a:gd name="connsiteX1" fmla="*/ 230429 w 460857"/>
              <a:gd name="connsiteY1" fmla="*/ 1126541 h 2253081"/>
              <a:gd name="connsiteX2" fmla="*/ 230429 w 460857"/>
              <a:gd name="connsiteY2" fmla="*/ 2253082 h 22530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60857" h="2253081">
                <a:moveTo>
                  <a:pt x="230429" y="0"/>
                </a:moveTo>
                <a:cubicBezTo>
                  <a:pt x="537667" y="307238"/>
                  <a:pt x="537667" y="716890"/>
                  <a:pt x="230429" y="1126541"/>
                </a:cubicBezTo>
                <a:cubicBezTo>
                  <a:pt x="-76810" y="1536192"/>
                  <a:pt x="-76810" y="1945843"/>
                  <a:pt x="230429" y="2253082"/>
                </a:cubicBezTo>
              </a:path>
            </a:pathLst>
          </a:custGeom>
          <a:noFill/>
          <a:ln w="153526" cap="rnd">
            <a:solidFill>
              <a:srgbClr val="4D0DA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57D4C053-23DB-B4BA-F5FD-34BC75874D9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4959" r="4585"/>
          <a:stretch/>
        </p:blipFill>
        <p:spPr>
          <a:xfrm>
            <a:off x="1808142" y="855015"/>
            <a:ext cx="3008376" cy="4572235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26E29662-9C82-AC31-40A2-C6DBFBDC8CD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10" r="52049"/>
          <a:stretch/>
        </p:blipFill>
        <p:spPr>
          <a:xfrm>
            <a:off x="4816518" y="1282700"/>
            <a:ext cx="2765850" cy="3661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038449"/>
      </p:ext>
    </p:extLst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assets/05-physical/governing-boundaries-faint.svg</a:t>
            </a:r>
          </a:p>
        </p:txBody>
      </p:sp>
      <p:pic>
        <p:nvPicPr>
          <p:cNvPr id="3" name="Picture 2" descr="governing-boundaries-faint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67200" y="1280160"/>
            <a:ext cx="36576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assets/05-physical/governing-boundaries-bold.svg</a:t>
            </a:r>
          </a:p>
        </p:txBody>
      </p:sp>
      <p:pic>
        <p:nvPicPr>
          <p:cNvPr id="3" name="Picture 2" descr="governing-boundaries-bold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67200" y="1280160"/>
            <a:ext cx="36576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assets/05-physical/governing-normals.svg</a:t>
            </a:r>
          </a:p>
        </p:txBody>
      </p:sp>
      <p:pic>
        <p:nvPicPr>
          <p:cNvPr id="3" name="Picture 2" descr="governing-normals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67200" y="1280160"/>
            <a:ext cx="36576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assets/05-physical/external-convection.svg</a:t>
            </a:r>
          </a:p>
        </p:txBody>
      </p:sp>
      <p:pic>
        <p:nvPicPr>
          <p:cNvPr id="3" name="Picture 2" descr="external-convection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01440" y="1280160"/>
            <a:ext cx="438912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assets/05-physical/external-radiation.svg</a:t>
            </a:r>
          </a:p>
        </p:txBody>
      </p:sp>
      <p:pic>
        <p:nvPicPr>
          <p:cNvPr id="3" name="Picture 2" descr="external-radiation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01440" y="1280160"/>
            <a:ext cx="438912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assets/05-physical/radiation-sw.svg</a:t>
            </a:r>
          </a:p>
        </p:txBody>
      </p:sp>
      <p:pic>
        <p:nvPicPr>
          <p:cNvPr id="3" name="Picture 2" descr="radiation-sw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27506" y="1280160"/>
            <a:ext cx="6536987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assets/05-physical/radiation-lw.svg</a:t>
            </a:r>
          </a:p>
        </p:txBody>
      </p:sp>
      <p:pic>
        <p:nvPicPr>
          <p:cNvPr id="3" name="Picture 2" descr="radiation-lw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27506" y="1280160"/>
            <a:ext cx="6536987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assets/05-physical/internal-convection.svg</a:t>
            </a:r>
          </a:p>
        </p:txBody>
      </p:sp>
      <p:pic>
        <p:nvPicPr>
          <p:cNvPr id="3" name="Picture 2" descr="internal-convection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80598" y="1280160"/>
            <a:ext cx="503080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assets/05-physical/internal-longwave.svg</a:t>
            </a:r>
          </a:p>
        </p:txBody>
      </p:sp>
      <p:pic>
        <p:nvPicPr>
          <p:cNvPr id="3" name="Picture 2" descr="internal-longwave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80598" y="1280160"/>
            <a:ext cx="503080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assets/05-physical/internal-adiabatic.svg</a:t>
            </a:r>
          </a:p>
        </p:txBody>
      </p:sp>
      <p:pic>
        <p:nvPicPr>
          <p:cNvPr id="3" name="Picture 2" descr="internal-adiabatic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80598" y="1280160"/>
            <a:ext cx="5030804" cy="51206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207</Words>
  <Application>Microsoft Office PowerPoint</Application>
  <PresentationFormat>Grand écran</PresentationFormat>
  <Paragraphs>19</Paragraphs>
  <Slides>12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William Dumontaud</cp:lastModifiedBy>
  <cp:revision>6</cp:revision>
  <dcterms:created xsi:type="dcterms:W3CDTF">2013-01-27T09:14:16Z</dcterms:created>
  <dcterms:modified xsi:type="dcterms:W3CDTF">2026-10-09T19:22:11Z</dcterms:modified>
  <cp:category/>
</cp:coreProperties>
</file>