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2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0DAB"/>
    <a:srgbClr val="9AA3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1024" y="-2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sv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 (the path is relative to the presentation folder).</a:t>
            </a:r>
          </a:p>
          <a:p>
            <a:r>
              <a:rPr sz="1800" b="0"/>
              <a:t>5. Run  python config/build.py  (or keep  python config/build.py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assets/03-contents/toc-physical.svg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>
            <a:extLst>
              <a:ext uri="{FF2B5EF4-FFF2-40B4-BE49-F238E27FC236}">
                <a16:creationId xmlns:a16="http://schemas.microsoft.com/office/drawing/2014/main" id="{6C605DA9-98CC-E3B3-FD0B-2687FCAE2173}"/>
              </a:ext>
            </a:extLst>
          </p:cNvPr>
          <p:cNvGrpSpPr/>
          <p:nvPr/>
        </p:nvGrpSpPr>
        <p:grpSpPr>
          <a:xfrm>
            <a:off x="5879591" y="392621"/>
            <a:ext cx="5398008" cy="6072759"/>
            <a:chOff x="5879591" y="392621"/>
            <a:chExt cx="5398008" cy="6072759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B360D1D5-011C-FA34-F2FD-09EC8ABE2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9592" y="3429000"/>
              <a:ext cx="5398007" cy="3036380"/>
            </a:xfrm>
            <a:prstGeom prst="rect">
              <a:avLst/>
            </a:prstGeom>
            <a:ln w="38100">
              <a:solidFill>
                <a:srgbClr val="4D0DAB"/>
              </a:solidFill>
            </a:ln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9344D838-8727-F234-229C-196C819A2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9591" y="392621"/>
              <a:ext cx="5398007" cy="3036379"/>
            </a:xfrm>
            <a:prstGeom prst="round2SameRect">
              <a:avLst>
                <a:gd name="adj1" fmla="val 5374"/>
                <a:gd name="adj2" fmla="val 0"/>
              </a:avLst>
            </a:prstGeom>
            <a:ln w="38100">
              <a:solidFill>
                <a:srgbClr val="4D0DAB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990338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assets/05-physical/governing-boundaries-faint.svg</a:t>
            </a:r>
          </a:p>
        </p:txBody>
      </p:sp>
      <p:pic>
        <p:nvPicPr>
          <p:cNvPr id="3" name="Picture 2" descr="governing-boundaries-faint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4800" y="1280160"/>
            <a:ext cx="3657600" cy="5120640"/>
          </a:xfrm>
          <a:prstGeom prst="rect">
            <a:avLst/>
          </a:prstGeom>
        </p:spPr>
      </p:pic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2BE8D181-3DBA-03A9-EEC6-FA573E32973D}"/>
              </a:ext>
            </a:extLst>
          </p:cNvPr>
          <p:cNvSpPr/>
          <p:nvPr/>
        </p:nvSpPr>
        <p:spPr>
          <a:xfrm>
            <a:off x="1255776" y="1280160"/>
            <a:ext cx="3657600" cy="5120640"/>
          </a:xfrm>
          <a:custGeom>
            <a:avLst/>
            <a:gdLst>
              <a:gd name="connsiteX0" fmla="*/ 0 w 3657600"/>
              <a:gd name="connsiteY0" fmla="*/ 0 h 5120640"/>
              <a:gd name="connsiteX1" fmla="*/ 3657600 w 3657600"/>
              <a:gd name="connsiteY1" fmla="*/ 0 h 5120640"/>
              <a:gd name="connsiteX2" fmla="*/ 3657600 w 3657600"/>
              <a:gd name="connsiteY2" fmla="*/ 5120640 h 5120640"/>
              <a:gd name="connsiteX3" fmla="*/ 0 w 3657600"/>
              <a:gd name="connsiteY3" fmla="*/ 5120640 h 512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7600" h="5120640">
                <a:moveTo>
                  <a:pt x="0" y="0"/>
                </a:moveTo>
                <a:lnTo>
                  <a:pt x="3657600" y="0"/>
                </a:lnTo>
                <a:lnTo>
                  <a:pt x="3657600" y="5120640"/>
                </a:lnTo>
                <a:lnTo>
                  <a:pt x="0" y="5120640"/>
                </a:lnTo>
                <a:close/>
              </a:path>
            </a:pathLst>
          </a:custGeom>
          <a:noFill/>
          <a:ln w="9144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BA75C1C5-65AC-FFF2-A98D-B7804B6B5812}"/>
              </a:ext>
            </a:extLst>
          </p:cNvPr>
          <p:cNvGrpSpPr/>
          <p:nvPr/>
        </p:nvGrpSpPr>
        <p:grpSpPr>
          <a:xfrm>
            <a:off x="782969" y="2078883"/>
            <a:ext cx="2006567" cy="3849624"/>
            <a:chOff x="782969" y="2078883"/>
            <a:chExt cx="2006567" cy="3849624"/>
          </a:xfrm>
        </p:grpSpPr>
        <p:sp>
          <p:nvSpPr>
            <p:cNvPr id="48" name="Forme libre : forme 47">
              <a:extLst>
                <a:ext uri="{FF2B5EF4-FFF2-40B4-BE49-F238E27FC236}">
                  <a16:creationId xmlns:a16="http://schemas.microsoft.com/office/drawing/2014/main" id="{64456DFF-15A7-80CC-BA2A-7B1109636909}"/>
                </a:ext>
              </a:extLst>
            </p:cNvPr>
            <p:cNvSpPr/>
            <p:nvPr/>
          </p:nvSpPr>
          <p:spPr>
            <a:xfrm>
              <a:off x="782969" y="2078883"/>
              <a:ext cx="2006567" cy="3840480"/>
            </a:xfrm>
            <a:custGeom>
              <a:avLst/>
              <a:gdLst>
                <a:gd name="connsiteX0" fmla="*/ 120654 w 705869"/>
                <a:gd name="connsiteY0" fmla="*/ 0 h 3840480"/>
                <a:gd name="connsiteX1" fmla="*/ 120654 w 705869"/>
                <a:gd name="connsiteY1" fmla="*/ 1737360 h 3840480"/>
                <a:gd name="connsiteX2" fmla="*/ 138942 w 705869"/>
                <a:gd name="connsiteY2" fmla="*/ 3840480 h 3840480"/>
                <a:gd name="connsiteX3" fmla="*/ 705870 w 705869"/>
                <a:gd name="connsiteY3" fmla="*/ 3840480 h 3840480"/>
                <a:gd name="connsiteX4" fmla="*/ 705870 w 705869"/>
                <a:gd name="connsiteY4" fmla="*/ 0 h 384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5869" h="3840480">
                  <a:moveTo>
                    <a:pt x="120654" y="0"/>
                  </a:moveTo>
                  <a:cubicBezTo>
                    <a:pt x="-80514" y="457200"/>
                    <a:pt x="358398" y="1188720"/>
                    <a:pt x="120654" y="1737360"/>
                  </a:cubicBezTo>
                  <a:cubicBezTo>
                    <a:pt x="-245106" y="2468880"/>
                    <a:pt x="358398" y="3291840"/>
                    <a:pt x="138942" y="3840480"/>
                  </a:cubicBezTo>
                  <a:lnTo>
                    <a:pt x="705870" y="3840480"/>
                  </a:lnTo>
                  <a:lnTo>
                    <a:pt x="705870" y="0"/>
                  </a:lnTo>
                  <a:close/>
                </a:path>
              </a:pathLst>
            </a:custGeom>
            <a:solidFill>
              <a:srgbClr val="9AA3AD"/>
            </a:solidFill>
            <a:ln w="36576" cap="flat">
              <a:solidFill>
                <a:srgbClr val="4D0DAB">
                  <a:alpha val="35000"/>
                </a:srgbClr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E048E69C-4812-EF4B-FFD5-637221833B54}"/>
                </a:ext>
              </a:extLst>
            </p:cNvPr>
            <p:cNvSpPr/>
            <p:nvPr/>
          </p:nvSpPr>
          <p:spPr>
            <a:xfrm>
              <a:off x="1013956" y="2088027"/>
              <a:ext cx="1263071" cy="3840480"/>
            </a:xfrm>
            <a:custGeom>
              <a:avLst/>
              <a:gdLst>
                <a:gd name="connsiteX0" fmla="*/ 129659 w 1263071"/>
                <a:gd name="connsiteY0" fmla="*/ 0 h 3840480"/>
                <a:gd name="connsiteX1" fmla="*/ 56507 w 1263071"/>
                <a:gd name="connsiteY1" fmla="*/ 2194560 h 3840480"/>
                <a:gd name="connsiteX2" fmla="*/ 93083 w 1263071"/>
                <a:gd name="connsiteY2" fmla="*/ 3840480 h 3840480"/>
                <a:gd name="connsiteX3" fmla="*/ 1208651 w 1263071"/>
                <a:gd name="connsiteY3" fmla="*/ 3840480 h 3840480"/>
                <a:gd name="connsiteX4" fmla="*/ 1190363 w 1263071"/>
                <a:gd name="connsiteY4" fmla="*/ 1737360 h 3840480"/>
                <a:gd name="connsiteX5" fmla="*/ 1190363 w 1263071"/>
                <a:gd name="connsiteY5" fmla="*/ 0 h 384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3071" h="3840480">
                  <a:moveTo>
                    <a:pt x="129659" y="0"/>
                  </a:moveTo>
                  <a:cubicBezTo>
                    <a:pt x="-53221" y="822960"/>
                    <a:pt x="312539" y="1554480"/>
                    <a:pt x="56507" y="2194560"/>
                  </a:cubicBezTo>
                  <a:cubicBezTo>
                    <a:pt x="-126373" y="2743200"/>
                    <a:pt x="202811" y="3383280"/>
                    <a:pt x="93083" y="3840480"/>
                  </a:cubicBezTo>
                  <a:lnTo>
                    <a:pt x="1208651" y="3840480"/>
                  </a:lnTo>
                  <a:cubicBezTo>
                    <a:pt x="1428107" y="3291840"/>
                    <a:pt x="824603" y="2468880"/>
                    <a:pt x="1190363" y="1737360"/>
                  </a:cubicBezTo>
                  <a:cubicBezTo>
                    <a:pt x="1428107" y="1188720"/>
                    <a:pt x="989195" y="457200"/>
                    <a:pt x="1190363" y="0"/>
                  </a:cubicBezTo>
                  <a:close/>
                </a:path>
              </a:pathLst>
            </a:custGeom>
            <a:noFill/>
            <a:ln w="91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E1AADF5E-F7D5-BDD6-A78F-37953DD4B3DA}"/>
                </a:ext>
              </a:extLst>
            </p:cNvPr>
            <p:cNvGrpSpPr/>
            <p:nvPr/>
          </p:nvGrpSpPr>
          <p:grpSpPr>
            <a:xfrm>
              <a:off x="1834328" y="2100727"/>
              <a:ext cx="942445" cy="3802063"/>
              <a:chOff x="3293106" y="1828800"/>
              <a:chExt cx="705869" cy="3840480"/>
            </a:xfrm>
          </p:grpSpPr>
          <p:sp>
            <p:nvSpPr>
              <p:cNvPr id="8" name="Forme libre : forme 7">
                <a:extLst>
                  <a:ext uri="{FF2B5EF4-FFF2-40B4-BE49-F238E27FC236}">
                    <a16:creationId xmlns:a16="http://schemas.microsoft.com/office/drawing/2014/main" id="{31B93ECC-83C1-F6CF-1E20-D7203F081833}"/>
                  </a:ext>
                </a:extLst>
              </p:cNvPr>
              <p:cNvSpPr/>
              <p:nvPr/>
            </p:nvSpPr>
            <p:spPr>
              <a:xfrm>
                <a:off x="3293106" y="1828800"/>
                <a:ext cx="705869" cy="3840480"/>
              </a:xfrm>
              <a:custGeom>
                <a:avLst/>
                <a:gdLst>
                  <a:gd name="connsiteX0" fmla="*/ 120654 w 705869"/>
                  <a:gd name="connsiteY0" fmla="*/ 0 h 3840480"/>
                  <a:gd name="connsiteX1" fmla="*/ 120654 w 705869"/>
                  <a:gd name="connsiteY1" fmla="*/ 1737360 h 3840480"/>
                  <a:gd name="connsiteX2" fmla="*/ 138942 w 705869"/>
                  <a:gd name="connsiteY2" fmla="*/ 3840480 h 3840480"/>
                  <a:gd name="connsiteX3" fmla="*/ 705870 w 705869"/>
                  <a:gd name="connsiteY3" fmla="*/ 3840480 h 3840480"/>
                  <a:gd name="connsiteX4" fmla="*/ 705870 w 705869"/>
                  <a:gd name="connsiteY4" fmla="*/ 0 h 384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869" h="3840480">
                    <a:moveTo>
                      <a:pt x="120654" y="0"/>
                    </a:moveTo>
                    <a:cubicBezTo>
                      <a:pt x="-80514" y="457200"/>
                      <a:pt x="358398" y="1188720"/>
                      <a:pt x="120654" y="1737360"/>
                    </a:cubicBezTo>
                    <a:cubicBezTo>
                      <a:pt x="-245106" y="2468880"/>
                      <a:pt x="358398" y="3291840"/>
                      <a:pt x="138942" y="3840480"/>
                    </a:cubicBezTo>
                    <a:lnTo>
                      <a:pt x="705870" y="3840480"/>
                    </a:lnTo>
                    <a:lnTo>
                      <a:pt x="705870" y="0"/>
                    </a:lnTo>
                    <a:close/>
                  </a:path>
                </a:pathLst>
              </a:custGeom>
              <a:solidFill>
                <a:srgbClr val="F2D65C"/>
              </a:solidFill>
              <a:ln w="9144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fr-FR" dirty="0"/>
              </a:p>
            </p:txBody>
          </p:sp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252820ED-12C7-9914-3F5A-F7F96A3239DD}"/>
                  </a:ext>
                </a:extLst>
              </p:cNvPr>
              <p:cNvSpPr/>
              <p:nvPr/>
            </p:nvSpPr>
            <p:spPr>
              <a:xfrm>
                <a:off x="3293106" y="1828800"/>
                <a:ext cx="193362" cy="3840480"/>
              </a:xfrm>
              <a:custGeom>
                <a:avLst/>
                <a:gdLst>
                  <a:gd name="connsiteX0" fmla="*/ 120654 w 193362"/>
                  <a:gd name="connsiteY0" fmla="*/ 0 h 3840480"/>
                  <a:gd name="connsiteX1" fmla="*/ 120654 w 193362"/>
                  <a:gd name="connsiteY1" fmla="*/ 1737360 h 3840480"/>
                  <a:gd name="connsiteX2" fmla="*/ 138942 w 193362"/>
                  <a:gd name="connsiteY2" fmla="*/ 3840480 h 384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3362" h="3840480">
                    <a:moveTo>
                      <a:pt x="120654" y="0"/>
                    </a:moveTo>
                    <a:cubicBezTo>
                      <a:pt x="-80514" y="457200"/>
                      <a:pt x="358398" y="1188720"/>
                      <a:pt x="120654" y="1737360"/>
                    </a:cubicBezTo>
                    <a:cubicBezTo>
                      <a:pt x="-245106" y="2468880"/>
                      <a:pt x="358398" y="3291840"/>
                      <a:pt x="138942" y="3840480"/>
                    </a:cubicBezTo>
                  </a:path>
                </a:pathLst>
              </a:custGeom>
              <a:noFill/>
              <a:ln w="27432" cap="flat">
                <a:solidFill>
                  <a:srgbClr val="D1495B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fr-FR"/>
              </a:p>
            </p:txBody>
          </p:sp>
        </p:grpSp>
      </p:grpSp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6F2CD886-B064-AF5F-531A-57CAD8AC8C8D}"/>
              </a:ext>
            </a:extLst>
          </p:cNvPr>
          <p:cNvSpPr/>
          <p:nvPr/>
        </p:nvSpPr>
        <p:spPr>
          <a:xfrm>
            <a:off x="3459651" y="1554480"/>
            <a:ext cx="3657600" cy="5120640"/>
          </a:xfrm>
          <a:custGeom>
            <a:avLst/>
            <a:gdLst>
              <a:gd name="connsiteX0" fmla="*/ 0 w 3657600"/>
              <a:gd name="connsiteY0" fmla="*/ 0 h 5120640"/>
              <a:gd name="connsiteX1" fmla="*/ 3657600 w 3657600"/>
              <a:gd name="connsiteY1" fmla="*/ 0 h 5120640"/>
              <a:gd name="connsiteX2" fmla="*/ 3657600 w 3657600"/>
              <a:gd name="connsiteY2" fmla="*/ 5120640 h 5120640"/>
              <a:gd name="connsiteX3" fmla="*/ 0 w 3657600"/>
              <a:gd name="connsiteY3" fmla="*/ 5120640 h 512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7600" h="5120640">
                <a:moveTo>
                  <a:pt x="0" y="0"/>
                </a:moveTo>
                <a:lnTo>
                  <a:pt x="3657600" y="0"/>
                </a:lnTo>
                <a:lnTo>
                  <a:pt x="3657600" y="5120640"/>
                </a:lnTo>
                <a:lnTo>
                  <a:pt x="0" y="5120640"/>
                </a:lnTo>
                <a:close/>
              </a:path>
            </a:pathLst>
          </a:custGeom>
          <a:noFill/>
          <a:ln w="9144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97A25064-ED44-E242-A68B-193A43FC6648}"/>
              </a:ext>
            </a:extLst>
          </p:cNvPr>
          <p:cNvSpPr/>
          <p:nvPr/>
        </p:nvSpPr>
        <p:spPr>
          <a:xfrm>
            <a:off x="4427271" y="2103120"/>
            <a:ext cx="1263071" cy="3840480"/>
          </a:xfrm>
          <a:custGeom>
            <a:avLst/>
            <a:gdLst>
              <a:gd name="connsiteX0" fmla="*/ 129659 w 1263071"/>
              <a:gd name="connsiteY0" fmla="*/ 0 h 3840480"/>
              <a:gd name="connsiteX1" fmla="*/ 56507 w 1263071"/>
              <a:gd name="connsiteY1" fmla="*/ 2194560 h 3840480"/>
              <a:gd name="connsiteX2" fmla="*/ 93083 w 1263071"/>
              <a:gd name="connsiteY2" fmla="*/ 3840480 h 3840480"/>
              <a:gd name="connsiteX3" fmla="*/ 1208651 w 1263071"/>
              <a:gd name="connsiteY3" fmla="*/ 3840480 h 3840480"/>
              <a:gd name="connsiteX4" fmla="*/ 1190363 w 1263071"/>
              <a:gd name="connsiteY4" fmla="*/ 1737360 h 3840480"/>
              <a:gd name="connsiteX5" fmla="*/ 1190363 w 1263071"/>
              <a:gd name="connsiteY5" fmla="*/ 0 h 3840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3071" h="3840480">
                <a:moveTo>
                  <a:pt x="129659" y="0"/>
                </a:moveTo>
                <a:cubicBezTo>
                  <a:pt x="-53221" y="822960"/>
                  <a:pt x="312539" y="1554480"/>
                  <a:pt x="56507" y="2194560"/>
                </a:cubicBezTo>
                <a:cubicBezTo>
                  <a:pt x="-126373" y="2743200"/>
                  <a:pt x="202811" y="3383280"/>
                  <a:pt x="93083" y="3840480"/>
                </a:cubicBezTo>
                <a:lnTo>
                  <a:pt x="1208651" y="3840480"/>
                </a:lnTo>
                <a:cubicBezTo>
                  <a:pt x="1428107" y="3291840"/>
                  <a:pt x="824603" y="2468880"/>
                  <a:pt x="1190363" y="1737360"/>
                </a:cubicBezTo>
                <a:cubicBezTo>
                  <a:pt x="1428107" y="1188720"/>
                  <a:pt x="989195" y="457200"/>
                  <a:pt x="1190363" y="0"/>
                </a:cubicBezTo>
                <a:close/>
              </a:path>
            </a:pathLst>
          </a:custGeom>
          <a:noFill/>
          <a:ln w="9144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577CECCC-E87F-EEF7-F3FB-82CA305BB034}"/>
              </a:ext>
            </a:extLst>
          </p:cNvPr>
          <p:cNvSpPr txBox="1"/>
          <p:nvPr/>
        </p:nvSpPr>
        <p:spPr>
          <a:xfrm>
            <a:off x="4419680" y="4373883"/>
            <a:ext cx="740664" cy="246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1125" spc="0" baseline="0">
                <a:ln/>
                <a:solidFill>
                  <a:srgbClr val="1D2733"/>
                </a:solidFill>
                <a:latin typeface="Arial"/>
                <a:cs typeface="Arial"/>
                <a:sym typeface="Arial"/>
                <a:rtl val="0"/>
              </a:rPr>
              <a:t>structural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D575F5BB-0A9E-9C83-E8AD-A20716A02671}"/>
              </a:ext>
            </a:extLst>
          </p:cNvPr>
          <p:cNvSpPr txBox="1"/>
          <p:nvPr/>
        </p:nvSpPr>
        <p:spPr>
          <a:xfrm>
            <a:off x="5415166" y="4151053"/>
            <a:ext cx="740664" cy="2468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1125" spc="0" baseline="0" dirty="0">
                <a:ln/>
                <a:solidFill>
                  <a:srgbClr val="1D2733"/>
                </a:solidFill>
                <a:latin typeface="Arial"/>
                <a:cs typeface="Arial"/>
                <a:sym typeface="Arial"/>
                <a:rtl val="0"/>
              </a:rPr>
              <a:t>insulation</a:t>
            </a:r>
          </a:p>
        </p:txBody>
      </p:sp>
      <p:grpSp>
        <p:nvGrpSpPr>
          <p:cNvPr id="75" name="Picture 2" descr="governing-boundaries-faint.svg">
            <a:extLst>
              <a:ext uri="{FF2B5EF4-FFF2-40B4-BE49-F238E27FC236}">
                <a16:creationId xmlns:a16="http://schemas.microsoft.com/office/drawing/2014/main" id="{E610FA24-A092-6C10-399E-EBA53069DB21}"/>
              </a:ext>
            </a:extLst>
          </p:cNvPr>
          <p:cNvGrpSpPr/>
          <p:nvPr/>
        </p:nvGrpSpPr>
        <p:grpSpPr>
          <a:xfrm>
            <a:off x="4520355" y="2103120"/>
            <a:ext cx="2495716" cy="4176791"/>
            <a:chOff x="4520355" y="2103120"/>
            <a:chExt cx="2495716" cy="4176791"/>
          </a:xfrm>
        </p:grpSpPr>
        <p:sp>
          <p:nvSpPr>
            <p:cNvPr id="76" name="Forme libre : forme 75">
              <a:extLst>
                <a:ext uri="{FF2B5EF4-FFF2-40B4-BE49-F238E27FC236}">
                  <a16:creationId xmlns:a16="http://schemas.microsoft.com/office/drawing/2014/main" id="{5703F06E-2FDF-6F42-2562-79DE288EC379}"/>
                </a:ext>
              </a:extLst>
            </p:cNvPr>
            <p:cNvSpPr/>
            <p:nvPr/>
          </p:nvSpPr>
          <p:spPr>
            <a:xfrm>
              <a:off x="4801037" y="5111496"/>
              <a:ext cx="9144" cy="640080"/>
            </a:xfrm>
            <a:custGeom>
              <a:avLst/>
              <a:gdLst>
                <a:gd name="connsiteX0" fmla="*/ 0 w 9144"/>
                <a:gd name="connsiteY0" fmla="*/ 640080 h 640080"/>
                <a:gd name="connsiteX1" fmla="*/ 0 w 9144"/>
                <a:gd name="connsiteY1" fmla="*/ 0 h 64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44" h="640080">
                  <a:moveTo>
                    <a:pt x="0" y="640080"/>
                  </a:moveTo>
                  <a:lnTo>
                    <a:pt x="0" y="0"/>
                  </a:lnTo>
                </a:path>
              </a:pathLst>
            </a:custGeom>
            <a:ln w="16459" cap="flat">
              <a:solidFill>
                <a:srgbClr val="222222"/>
              </a:solidFill>
              <a:prstDash val="solid"/>
              <a:miter/>
              <a:tailEnd type="triangle"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77" name="Forme libre : forme 76">
              <a:extLst>
                <a:ext uri="{FF2B5EF4-FFF2-40B4-BE49-F238E27FC236}">
                  <a16:creationId xmlns:a16="http://schemas.microsoft.com/office/drawing/2014/main" id="{BFE8E076-7298-66D7-28B1-7666FF30DDCB}"/>
                </a:ext>
              </a:extLst>
            </p:cNvPr>
            <p:cNvSpPr/>
            <p:nvPr/>
          </p:nvSpPr>
          <p:spPr>
            <a:xfrm>
              <a:off x="4801037" y="5751576"/>
              <a:ext cx="640080" cy="9144"/>
            </a:xfrm>
            <a:custGeom>
              <a:avLst/>
              <a:gdLst>
                <a:gd name="connsiteX0" fmla="*/ 0 w 640080"/>
                <a:gd name="connsiteY0" fmla="*/ 0 h 9144"/>
                <a:gd name="connsiteX1" fmla="*/ 640080 w 640080"/>
                <a:gd name="connsiteY1" fmla="*/ 0 h 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40080" h="9144">
                  <a:moveTo>
                    <a:pt x="0" y="0"/>
                  </a:moveTo>
                  <a:lnTo>
                    <a:pt x="640080" y="0"/>
                  </a:lnTo>
                </a:path>
              </a:pathLst>
            </a:custGeom>
            <a:ln w="16459" cap="flat">
              <a:solidFill>
                <a:srgbClr val="222222"/>
              </a:solidFill>
              <a:prstDash val="solid"/>
              <a:miter/>
              <a:headEnd type="none"/>
              <a:tailEnd type="triangle"/>
            </a:ln>
          </p:spPr>
          <p:txBody>
            <a:bodyPr rtlCol="0" anchor="ctr"/>
            <a:lstStyle/>
            <a:p>
              <a:endParaRPr lang="fr-FR" dirty="0"/>
            </a:p>
          </p:txBody>
        </p:sp>
        <p:sp>
          <p:nvSpPr>
            <p:cNvPr id="78" name="Forme libre : forme 77">
              <a:extLst>
                <a:ext uri="{FF2B5EF4-FFF2-40B4-BE49-F238E27FC236}">
                  <a16:creationId xmlns:a16="http://schemas.microsoft.com/office/drawing/2014/main" id="{541F2DB8-FC6F-732D-821E-411CF4F66D5E}"/>
                </a:ext>
              </a:extLst>
            </p:cNvPr>
            <p:cNvSpPr/>
            <p:nvPr/>
          </p:nvSpPr>
          <p:spPr>
            <a:xfrm>
              <a:off x="7006927" y="2103120"/>
              <a:ext cx="9144" cy="3840480"/>
            </a:xfrm>
            <a:custGeom>
              <a:avLst/>
              <a:gdLst>
                <a:gd name="connsiteX0" fmla="*/ 0 w 9144"/>
                <a:gd name="connsiteY0" fmla="*/ 0 h 3840480"/>
                <a:gd name="connsiteX1" fmla="*/ 0 w 9144"/>
                <a:gd name="connsiteY1" fmla="*/ 3840480 h 384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44" h="3840480">
                  <a:moveTo>
                    <a:pt x="0" y="0"/>
                  </a:moveTo>
                  <a:lnTo>
                    <a:pt x="0" y="3840480"/>
                  </a:lnTo>
                </a:path>
              </a:pathLst>
            </a:custGeom>
            <a:ln w="16459" cap="flat">
              <a:solidFill>
                <a:srgbClr val="222222"/>
              </a:solidFill>
              <a:prstDash val="solid"/>
              <a:miter/>
              <a:headEnd type="triangle"/>
              <a:tailEnd type="triangle"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79" name="Forme libre : forme 78">
              <a:extLst>
                <a:ext uri="{FF2B5EF4-FFF2-40B4-BE49-F238E27FC236}">
                  <a16:creationId xmlns:a16="http://schemas.microsoft.com/office/drawing/2014/main" id="{E08BCBDB-7DEA-D274-A754-0E96C934EA07}"/>
                </a:ext>
              </a:extLst>
            </p:cNvPr>
            <p:cNvSpPr/>
            <p:nvPr/>
          </p:nvSpPr>
          <p:spPr>
            <a:xfrm>
              <a:off x="4520355" y="6270767"/>
              <a:ext cx="1682496" cy="9144"/>
            </a:xfrm>
            <a:custGeom>
              <a:avLst/>
              <a:gdLst>
                <a:gd name="connsiteX0" fmla="*/ 0 w 1682496"/>
                <a:gd name="connsiteY0" fmla="*/ 0 h 9144"/>
                <a:gd name="connsiteX1" fmla="*/ 1682496 w 1682496"/>
                <a:gd name="connsiteY1" fmla="*/ 0 h 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682496" h="9144">
                  <a:moveTo>
                    <a:pt x="0" y="0"/>
                  </a:moveTo>
                  <a:lnTo>
                    <a:pt x="1682496" y="0"/>
                  </a:lnTo>
                </a:path>
              </a:pathLst>
            </a:custGeom>
            <a:ln w="16459" cap="flat">
              <a:solidFill>
                <a:srgbClr val="222222"/>
              </a:solidFill>
              <a:prstDash val="solid"/>
              <a:miter/>
              <a:headEnd type="triangle"/>
              <a:tailEnd type="triangle"/>
            </a:ln>
          </p:spPr>
          <p:txBody>
            <a:bodyPr rtlCol="0" anchor="ctr"/>
            <a:lstStyle/>
            <a:p>
              <a:endParaRPr lang="fr-FR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4DB5EDC-1324-486D-ADD8-A0E7C5F51E6E}"/>
                  </a:ext>
                </a:extLst>
              </p:cNvPr>
              <p:cNvSpPr txBox="1"/>
              <p:nvPr/>
            </p:nvSpPr>
            <p:spPr>
              <a:xfrm>
                <a:off x="5155196" y="5436601"/>
                <a:ext cx="345992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pc="0" baseline="0" smtClean="0">
                          <a:ln/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𝑥</m:t>
                      </m:r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4DB5EDC-1324-486D-ADD8-A0E7C5F51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196" y="5436601"/>
                <a:ext cx="345992" cy="3231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EF65B2FA-9E30-F155-904D-2D9A3E22E685}"/>
                  </a:ext>
                </a:extLst>
              </p:cNvPr>
              <p:cNvSpPr txBox="1"/>
              <p:nvPr/>
            </p:nvSpPr>
            <p:spPr>
              <a:xfrm>
                <a:off x="4778103" y="4971211"/>
                <a:ext cx="348236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pc="0" baseline="0" smtClean="0">
                          <a:ln/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𝑦</m:t>
                      </m:r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EF65B2FA-9E30-F155-904D-2D9A3E22E6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103" y="4971211"/>
                <a:ext cx="348236" cy="323165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35DC4A43-E1BB-CDDE-4FDD-FDCEE8A4B715}"/>
                  </a:ext>
                </a:extLst>
              </p:cNvPr>
              <p:cNvSpPr txBox="1"/>
              <p:nvPr/>
            </p:nvSpPr>
            <p:spPr>
              <a:xfrm>
                <a:off x="5566124" y="5514417"/>
                <a:ext cx="5111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fr-FR" sz="2000" i="1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Г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35DC4A43-E1BB-CDDE-4FDD-FDCEE8A4B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124" y="5514417"/>
                <a:ext cx="511101" cy="400110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AA6F98B5-9C9E-10D2-A147-287D2427EC91}"/>
                  </a:ext>
                </a:extLst>
              </p:cNvPr>
              <p:cNvSpPr txBox="1"/>
              <p:nvPr/>
            </p:nvSpPr>
            <p:spPr>
              <a:xfrm>
                <a:off x="6991826" y="3521656"/>
                <a:ext cx="38266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pc="0" baseline="0" smtClean="0">
                          <a:ln/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𝐻</m:t>
                      </m:r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5" name="ZoneTexte 94">
                <a:extLst>
                  <a:ext uri="{FF2B5EF4-FFF2-40B4-BE49-F238E27FC236}">
                    <a16:creationId xmlns:a16="http://schemas.microsoft.com/office/drawing/2014/main" id="{AA6F98B5-9C9E-10D2-A147-287D2427E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26" y="3521656"/>
                <a:ext cx="382669" cy="3231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ZoneTexte 95">
                <a:extLst>
                  <a:ext uri="{FF2B5EF4-FFF2-40B4-BE49-F238E27FC236}">
                    <a16:creationId xmlns:a16="http://schemas.microsoft.com/office/drawing/2014/main" id="{58C0423E-EFAA-901C-6782-FD7B7E82AE86}"/>
                  </a:ext>
                </a:extLst>
              </p:cNvPr>
              <p:cNvSpPr txBox="1"/>
              <p:nvPr/>
            </p:nvSpPr>
            <p:spPr>
              <a:xfrm>
                <a:off x="4509283" y="4034624"/>
                <a:ext cx="5436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Ω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6" name="ZoneTexte 95">
                <a:extLst>
                  <a:ext uri="{FF2B5EF4-FFF2-40B4-BE49-F238E27FC236}">
                    <a16:creationId xmlns:a16="http://schemas.microsoft.com/office/drawing/2014/main" id="{58C0423E-EFAA-901C-6782-FD7B7E82A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9283" y="4034624"/>
                <a:ext cx="543610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E2039139-59A0-A0CE-1DC7-4645FE9EDEBD}"/>
                  </a:ext>
                </a:extLst>
              </p:cNvPr>
              <p:cNvSpPr txBox="1"/>
              <p:nvPr/>
            </p:nvSpPr>
            <p:spPr>
              <a:xfrm>
                <a:off x="5197011" y="6223200"/>
                <a:ext cx="344132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pc="0" baseline="0" smtClean="0">
                          <a:ln/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𝐿</m:t>
                      </m:r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E2039139-59A0-A0CE-1DC7-4645FE9ED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011" y="6223200"/>
                <a:ext cx="344132" cy="3231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ZoneTexte 97">
                <a:extLst>
                  <a:ext uri="{FF2B5EF4-FFF2-40B4-BE49-F238E27FC236}">
                    <a16:creationId xmlns:a16="http://schemas.microsoft.com/office/drawing/2014/main" id="{64C8BB15-E7EE-D564-DF49-73AFFCF88B20}"/>
                  </a:ext>
                </a:extLst>
              </p:cNvPr>
              <p:cNvSpPr txBox="1"/>
              <p:nvPr/>
            </p:nvSpPr>
            <p:spPr>
              <a:xfrm>
                <a:off x="4730731" y="2029131"/>
                <a:ext cx="5111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fr-FR" sz="2000" i="1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Г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8" name="ZoneTexte 97">
                <a:extLst>
                  <a:ext uri="{FF2B5EF4-FFF2-40B4-BE49-F238E27FC236}">
                    <a16:creationId xmlns:a16="http://schemas.microsoft.com/office/drawing/2014/main" id="{64C8BB15-E7EE-D564-DF49-73AFFCF88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0731" y="2029131"/>
                <a:ext cx="511101" cy="400110"/>
              </a:xfrm>
              <a:prstGeom prst="rect">
                <a:avLst/>
              </a:prstGeom>
              <a:blipFill>
                <a:blip r:embed="rId10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ZoneTexte 98">
                <a:extLst>
                  <a:ext uri="{FF2B5EF4-FFF2-40B4-BE49-F238E27FC236}">
                    <a16:creationId xmlns:a16="http://schemas.microsoft.com/office/drawing/2014/main" id="{1857AD19-F22B-2C5D-2C58-0345892F108A}"/>
                  </a:ext>
                </a:extLst>
              </p:cNvPr>
              <p:cNvSpPr txBox="1"/>
              <p:nvPr/>
            </p:nvSpPr>
            <p:spPr>
              <a:xfrm>
                <a:off x="4294974" y="3146649"/>
                <a:ext cx="50513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fr-FR" sz="2000" i="1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Г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99" name="ZoneTexte 98">
                <a:extLst>
                  <a:ext uri="{FF2B5EF4-FFF2-40B4-BE49-F238E27FC236}">
                    <a16:creationId xmlns:a16="http://schemas.microsoft.com/office/drawing/2014/main" id="{1857AD19-F22B-2C5D-2C58-0345892F1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4974" y="3146649"/>
                <a:ext cx="505138" cy="400110"/>
              </a:xfrm>
              <a:prstGeom prst="rect">
                <a:avLst/>
              </a:prstGeom>
              <a:blipFill>
                <a:blip r:embed="rId1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ZoneTexte 99">
                <a:extLst>
                  <a:ext uri="{FF2B5EF4-FFF2-40B4-BE49-F238E27FC236}">
                    <a16:creationId xmlns:a16="http://schemas.microsoft.com/office/drawing/2014/main" id="{BEA8348F-C658-BE28-C4C2-DEADEAD40226}"/>
                  </a:ext>
                </a:extLst>
              </p:cNvPr>
              <p:cNvSpPr txBox="1"/>
              <p:nvPr/>
            </p:nvSpPr>
            <p:spPr>
              <a:xfrm>
                <a:off x="6146044" y="4890323"/>
                <a:ext cx="5111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fr-FR" sz="2000" i="1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Г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4D0DAB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100" name="ZoneTexte 99">
                <a:extLst>
                  <a:ext uri="{FF2B5EF4-FFF2-40B4-BE49-F238E27FC236}">
                    <a16:creationId xmlns:a16="http://schemas.microsoft.com/office/drawing/2014/main" id="{BEA8348F-C658-BE28-C4C2-DEADEAD402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6044" y="4890323"/>
                <a:ext cx="511101" cy="400110"/>
              </a:xfrm>
              <a:prstGeom prst="rect">
                <a:avLst/>
              </a:prstGeom>
              <a:blipFill>
                <a:blip r:embed="rId12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ZoneTexte 100">
                <a:extLst>
                  <a:ext uri="{FF2B5EF4-FFF2-40B4-BE49-F238E27FC236}">
                    <a16:creationId xmlns:a16="http://schemas.microsoft.com/office/drawing/2014/main" id="{8EBFBAAD-4542-691B-2AE2-1E71811F9D28}"/>
                  </a:ext>
                </a:extLst>
              </p:cNvPr>
              <p:cNvSpPr txBox="1"/>
              <p:nvPr/>
            </p:nvSpPr>
            <p:spPr>
              <a:xfrm>
                <a:off x="5126339" y="3201507"/>
                <a:ext cx="47423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fr-FR" sz="2000" i="1">
                              <a:ln/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Г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101" name="ZoneTexte 100">
                <a:extLst>
                  <a:ext uri="{FF2B5EF4-FFF2-40B4-BE49-F238E27FC236}">
                    <a16:creationId xmlns:a16="http://schemas.microsoft.com/office/drawing/2014/main" id="{8EBFBAAD-4542-691B-2AE2-1E71811F9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339" y="3201507"/>
                <a:ext cx="474232" cy="400110"/>
              </a:xfrm>
              <a:prstGeom prst="rect">
                <a:avLst/>
              </a:prstGeom>
              <a:blipFill>
                <a:blip r:embed="rId1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ZoneTexte 101">
                <a:extLst>
                  <a:ext uri="{FF2B5EF4-FFF2-40B4-BE49-F238E27FC236}">
                    <a16:creationId xmlns:a16="http://schemas.microsoft.com/office/drawing/2014/main" id="{7FBFAC42-FB0C-9ABA-0588-57D9AF2C0156}"/>
                  </a:ext>
                </a:extLst>
              </p:cNvPr>
              <p:cNvSpPr txBox="1"/>
              <p:nvPr/>
            </p:nvSpPr>
            <p:spPr>
              <a:xfrm>
                <a:off x="5516581" y="3825513"/>
                <a:ext cx="54957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Ω</m:t>
                          </m:r>
                        </m:e>
                        <m:sub>
                          <m:r>
                            <a:rPr lang="fr-FR" sz="2000" b="0" i="1" spc="0" baseline="0" smtClean="0">
                              <a:ln/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500" i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endParaRPr>
              </a:p>
            </p:txBody>
          </p:sp>
        </mc:Choice>
        <mc:Fallback>
          <p:sp>
            <p:nvSpPr>
              <p:cNvPr id="102" name="ZoneTexte 101">
                <a:extLst>
                  <a:ext uri="{FF2B5EF4-FFF2-40B4-BE49-F238E27FC236}">
                    <a16:creationId xmlns:a16="http://schemas.microsoft.com/office/drawing/2014/main" id="{7FBFAC42-FB0C-9ABA-0588-57D9AF2C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581" y="3825513"/>
                <a:ext cx="549573" cy="400110"/>
              </a:xfrm>
              <a:prstGeom prst="rect">
                <a:avLst/>
              </a:prstGeom>
              <a:blipFill>
                <a:blip r:embed="rId1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3D6A7A8B-57AD-2BA7-5852-B8F1DAEC80A9}"/>
              </a:ext>
            </a:extLst>
          </p:cNvPr>
          <p:cNvSpPr/>
          <p:nvPr/>
        </p:nvSpPr>
        <p:spPr>
          <a:xfrm>
            <a:off x="6255131" y="2393519"/>
            <a:ext cx="706291" cy="323165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/>
              <a:t>inside</a:t>
            </a:r>
            <a:endParaRPr lang="fr-FR" sz="1400" dirty="0"/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:a16="http://schemas.microsoft.com/office/drawing/2014/main" id="{9C752A9A-4881-D098-347B-F8CAEF1193DC}"/>
              </a:ext>
            </a:extLst>
          </p:cNvPr>
          <p:cNvSpPr/>
          <p:nvPr/>
        </p:nvSpPr>
        <p:spPr>
          <a:xfrm>
            <a:off x="3378435" y="2399068"/>
            <a:ext cx="848057" cy="323165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err="1"/>
              <a:t>outside</a:t>
            </a:r>
            <a:endParaRPr lang="fr-FR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assets/05-physical/governing-boundaries-bold.svg</a:t>
            </a:r>
          </a:p>
        </p:txBody>
      </p:sp>
      <p:pic>
        <p:nvPicPr>
          <p:cNvPr id="3" name="Picture 2" descr="governing-boundaries-bold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assets/05-physical/governing-normals.svg</a:t>
            </a:r>
          </a:p>
        </p:txBody>
      </p:sp>
      <p:pic>
        <p:nvPicPr>
          <p:cNvPr id="3" name="Picture 2" descr="governing-normals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200" y="1280160"/>
            <a:ext cx="36576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assets/05-physical/external-convection.svg</a:t>
            </a:r>
          </a:p>
        </p:txBody>
      </p:sp>
      <p:pic>
        <p:nvPicPr>
          <p:cNvPr id="3" name="Picture 2" descr="ex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assets/05-physical/external-radiation.svg</a:t>
            </a:r>
          </a:p>
        </p:txBody>
      </p:sp>
      <p:pic>
        <p:nvPicPr>
          <p:cNvPr id="3" name="Picture 2" descr="external-radia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1440" y="1280160"/>
            <a:ext cx="438912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assets/05-physical/radiation-sw.svg</a:t>
            </a:r>
          </a:p>
        </p:txBody>
      </p:sp>
      <p:pic>
        <p:nvPicPr>
          <p:cNvPr id="3" name="Picture 2" descr="radiation-s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assets/05-physical/radiation-lw.svg</a:t>
            </a:r>
          </a:p>
        </p:txBody>
      </p:sp>
      <p:pic>
        <p:nvPicPr>
          <p:cNvPr id="3" name="Picture 2" descr="radiation-lw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7506" y="1280160"/>
            <a:ext cx="653698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assets/05-physical/internal-convection.svg</a:t>
            </a:r>
          </a:p>
        </p:txBody>
      </p:sp>
      <p:pic>
        <p:nvPicPr>
          <p:cNvPr id="3" name="Picture 2" descr="internal-conv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assets/05-physical/internal-longwave.svg</a:t>
            </a:r>
          </a:p>
        </p:txBody>
      </p:sp>
      <p:pic>
        <p:nvPicPr>
          <p:cNvPr id="3" name="Picture 2" descr="internal-longwav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assets/05-physical/internal-adiabatic.svg</a:t>
            </a:r>
          </a:p>
        </p:txBody>
      </p:sp>
      <p:pic>
        <p:nvPicPr>
          <p:cNvPr id="3" name="Picture 2" descr="internal-adiabatic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0598" y="1280160"/>
            <a:ext cx="50308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assets/04-introduction/section.svg</a:t>
            </a:r>
          </a:p>
        </p:txBody>
      </p:sp>
      <p:pic>
        <p:nvPicPr>
          <p:cNvPr id="3" name="Picture 2" descr="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29435" y="1280160"/>
            <a:ext cx="613313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assets/04-introduction/why-topology.svg</a:t>
            </a:r>
          </a:p>
        </p:txBody>
      </p:sp>
      <p:pic>
        <p:nvPicPr>
          <p:cNvPr id="3" name="Picture 2" descr="why-topology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assets/04-introduction/why-shape.svg</a:t>
            </a:r>
          </a:p>
        </p:txBody>
      </p:sp>
      <p:pic>
        <p:nvPicPr>
          <p:cNvPr id="3" name="Picture 2" descr="why-shape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assets/04-introduction/why-both.svg</a:t>
            </a:r>
          </a:p>
        </p:txBody>
      </p:sp>
      <p:pic>
        <p:nvPicPr>
          <p:cNvPr id="3" name="Picture 2" descr="why-both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280160"/>
            <a:ext cx="8001000" cy="504998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assets/05-physical/canyon-section.svg</a:t>
            </a:r>
          </a:p>
        </p:txBody>
      </p:sp>
      <p:pic>
        <p:nvPicPr>
          <p:cNvPr id="3" name="Picture 2" descr="canyon-section.sv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43225" y="1280160"/>
            <a:ext cx="7905549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329</Words>
  <Application>Microsoft Office PowerPoint</Application>
  <PresentationFormat>Grand écran</PresentationFormat>
  <Paragraphs>49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Cambria Math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11</cp:revision>
  <dcterms:created xsi:type="dcterms:W3CDTF">2013-01-27T09:14:16Z</dcterms:created>
  <dcterms:modified xsi:type="dcterms:W3CDTF">2026-10-12T20:23:08Z</dcterms:modified>
  <cp:category/>
</cp:coreProperties>
</file>