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2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0DAB"/>
    <a:srgbClr val="9AA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sv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/>
              <a:t>Editable illustrations of the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Each following slide holds one drawing, stored as SVG (vector).</a:t>
            </a:r>
          </a:p>
          <a:p>
            <a:r>
              <a:rPr sz="1800" b="0"/>
              <a:t>1. Right-click the drawing &gt; Convert to Shape (PowerPoint 365 / 2021+): it becomes editable shapes.</a:t>
            </a:r>
          </a:p>
          <a:p>
            <a:r>
              <a:rPr sz="1800" b="0"/>
              <a:t>2. Edit it (colours, lines, add elements...). Keep it grouped.</a:t>
            </a:r>
          </a:p>
          <a:p>
            <a:r>
              <a:rPr sz="1800" b="0"/>
              <a:t>3. Select the group &gt; right-click &gt; Save as Picture... &gt; type SVG.</a:t>
            </a:r>
          </a:p>
          <a:p>
            <a:r>
              <a:rPr sz="1800" b="0"/>
              <a:t>4. Save it over the file named in the slide title (the path is relative to the presentation folder).</a:t>
            </a:r>
          </a:p>
          <a:p>
            <a:r>
              <a:rPr sz="1800" b="0"/>
              <a:t>5. Run  python config/build.py  (or keep  python config/build.py --watch  running) and refresh the browser.</a:t>
            </a:r>
          </a:p>
          <a:p>
            <a:endParaRPr sz="1800" b="0"/>
          </a:p>
          <a:p>
            <a:r>
              <a:rPr sz="1800" b="0"/>
              <a:t>Tip: keep the same width/height ratio so that the drawing fits its place on the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assets/04-introduction/sota-building.svg</a:t>
            </a: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5A3E5E7D-B411-177B-6DA2-CF0EBC785952}"/>
              </a:ext>
            </a:extLst>
          </p:cNvPr>
          <p:cNvSpPr/>
          <p:nvPr/>
        </p:nvSpPr>
        <p:spPr>
          <a:xfrm>
            <a:off x="3740352" y="2304288"/>
            <a:ext cx="3277209" cy="3686860"/>
          </a:xfrm>
          <a:custGeom>
            <a:avLst/>
            <a:gdLst>
              <a:gd name="connsiteX0" fmla="*/ 0 w 3277209"/>
              <a:gd name="connsiteY0" fmla="*/ 3686861 h 3686860"/>
              <a:gd name="connsiteX1" fmla="*/ 0 w 3277209"/>
              <a:gd name="connsiteY1" fmla="*/ 1228954 h 3686860"/>
              <a:gd name="connsiteX2" fmla="*/ 1638605 w 3277209"/>
              <a:gd name="connsiteY2" fmla="*/ 0 h 3686860"/>
              <a:gd name="connsiteX3" fmla="*/ 3277210 w 3277209"/>
              <a:gd name="connsiteY3" fmla="*/ 1228954 h 3686860"/>
              <a:gd name="connsiteX4" fmla="*/ 3277210 w 3277209"/>
              <a:gd name="connsiteY4" fmla="*/ 3686861 h 368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77209" h="3686860">
                <a:moveTo>
                  <a:pt x="0" y="3686861"/>
                </a:moveTo>
                <a:lnTo>
                  <a:pt x="0" y="1228954"/>
                </a:lnTo>
                <a:lnTo>
                  <a:pt x="1638605" y="0"/>
                </a:lnTo>
                <a:lnTo>
                  <a:pt x="3277210" y="1228954"/>
                </a:lnTo>
                <a:lnTo>
                  <a:pt x="3277210" y="3686861"/>
                </a:lnTo>
                <a:close/>
              </a:path>
            </a:pathLst>
          </a:custGeom>
          <a:solidFill>
            <a:srgbClr val="DFE7EF"/>
          </a:solidFill>
          <a:ln w="204623" cap="flat">
            <a:solidFill>
              <a:srgbClr val="00294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CD452A6F-4A5D-C673-1413-50B653F7DE80}"/>
              </a:ext>
            </a:extLst>
          </p:cNvPr>
          <p:cNvSpPr/>
          <p:nvPr/>
        </p:nvSpPr>
        <p:spPr>
          <a:xfrm>
            <a:off x="7222387" y="3123590"/>
            <a:ext cx="1433779" cy="2867558"/>
          </a:xfrm>
          <a:custGeom>
            <a:avLst/>
            <a:gdLst>
              <a:gd name="connsiteX0" fmla="*/ 0 w 1433779"/>
              <a:gd name="connsiteY0" fmla="*/ 0 h 2867558"/>
              <a:gd name="connsiteX1" fmla="*/ 1433779 w 1433779"/>
              <a:gd name="connsiteY1" fmla="*/ 0 h 2867558"/>
              <a:gd name="connsiteX2" fmla="*/ 1433779 w 1433779"/>
              <a:gd name="connsiteY2" fmla="*/ 2867559 h 2867558"/>
              <a:gd name="connsiteX3" fmla="*/ 0 w 1433779"/>
              <a:gd name="connsiteY3" fmla="*/ 2867559 h 2867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33779" h="2867558">
                <a:moveTo>
                  <a:pt x="0" y="0"/>
                </a:moveTo>
                <a:lnTo>
                  <a:pt x="1433779" y="0"/>
                </a:lnTo>
                <a:lnTo>
                  <a:pt x="1433779" y="2867559"/>
                </a:lnTo>
                <a:lnTo>
                  <a:pt x="0" y="2867559"/>
                </a:lnTo>
                <a:close/>
              </a:path>
            </a:pathLst>
          </a:custGeom>
          <a:solidFill>
            <a:srgbClr val="DFE7EF"/>
          </a:solidFill>
          <a:ln w="204623" cap="flat">
            <a:solidFill>
              <a:srgbClr val="00294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1E8519F3-F9E4-EB39-F9BD-7F1837A31CA3}"/>
              </a:ext>
            </a:extLst>
          </p:cNvPr>
          <p:cNvSpPr/>
          <p:nvPr/>
        </p:nvSpPr>
        <p:spPr>
          <a:xfrm>
            <a:off x="7529626" y="1587398"/>
            <a:ext cx="1024127" cy="1024128"/>
          </a:xfrm>
          <a:custGeom>
            <a:avLst/>
            <a:gdLst>
              <a:gd name="connsiteX0" fmla="*/ 1024128 w 1024127"/>
              <a:gd name="connsiteY0" fmla="*/ 512064 h 1024128"/>
              <a:gd name="connsiteX1" fmla="*/ 512064 w 1024127"/>
              <a:gd name="connsiteY1" fmla="*/ 1024128 h 1024128"/>
              <a:gd name="connsiteX2" fmla="*/ 0 w 1024127"/>
              <a:gd name="connsiteY2" fmla="*/ 512064 h 1024128"/>
              <a:gd name="connsiteX3" fmla="*/ 512064 w 1024127"/>
              <a:gd name="connsiteY3" fmla="*/ 0 h 1024128"/>
              <a:gd name="connsiteX4" fmla="*/ 1024128 w 1024127"/>
              <a:gd name="connsiteY4" fmla="*/ 512064 h 102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4127" h="1024128">
                <a:moveTo>
                  <a:pt x="1024128" y="512064"/>
                </a:moveTo>
                <a:cubicBezTo>
                  <a:pt x="1024128" y="794869"/>
                  <a:pt x="794869" y="1024128"/>
                  <a:pt x="512064" y="1024128"/>
                </a:cubicBezTo>
                <a:cubicBezTo>
                  <a:pt x="229259" y="1024128"/>
                  <a:pt x="0" y="794869"/>
                  <a:pt x="0" y="512064"/>
                </a:cubicBezTo>
                <a:cubicBezTo>
                  <a:pt x="0" y="229259"/>
                  <a:pt x="229259" y="0"/>
                  <a:pt x="512064" y="0"/>
                </a:cubicBezTo>
                <a:cubicBezTo>
                  <a:pt x="794869" y="0"/>
                  <a:pt x="1024128" y="229259"/>
                  <a:pt x="1024128" y="512064"/>
                </a:cubicBezTo>
                <a:close/>
              </a:path>
            </a:pathLst>
          </a:custGeom>
          <a:solidFill>
            <a:srgbClr val="FEEA6D"/>
          </a:solidFill>
          <a:ln w="102312" cap="flat">
            <a:solidFill>
              <a:srgbClr val="C9A800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A77FBC40-30AD-EC66-7A61-32C3B32E9471}"/>
              </a:ext>
            </a:extLst>
          </p:cNvPr>
          <p:cNvSpPr/>
          <p:nvPr/>
        </p:nvSpPr>
        <p:spPr>
          <a:xfrm>
            <a:off x="3330701" y="5991148"/>
            <a:ext cx="5530290" cy="102412"/>
          </a:xfrm>
          <a:custGeom>
            <a:avLst/>
            <a:gdLst>
              <a:gd name="connsiteX0" fmla="*/ 0 w 5530290"/>
              <a:gd name="connsiteY0" fmla="*/ 0 h 102412"/>
              <a:gd name="connsiteX1" fmla="*/ 5530291 w 5530290"/>
              <a:gd name="connsiteY1" fmla="*/ 0 h 102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30290" h="102412">
                <a:moveTo>
                  <a:pt x="0" y="0"/>
                </a:moveTo>
                <a:lnTo>
                  <a:pt x="5530291" y="0"/>
                </a:lnTo>
              </a:path>
            </a:pathLst>
          </a:custGeom>
          <a:solidFill>
            <a:srgbClr val="000000"/>
          </a:solidFill>
          <a:ln w="204623" cap="flat">
            <a:solidFill>
              <a:srgbClr val="00294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assets/04-introduction/sota-material.svg</a:t>
            </a:r>
          </a:p>
        </p:txBody>
      </p:sp>
      <p:pic>
        <p:nvPicPr>
          <p:cNvPr id="3" name="Picture 2" descr="sota-materia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5876" y="1280160"/>
            <a:ext cx="593994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assets/04-introduction/sota-wall.svg</a:t>
            </a:r>
          </a:p>
        </p:txBody>
      </p:sp>
      <p:pic>
        <p:nvPicPr>
          <p:cNvPr id="3" name="Picture 2" descr="sota-wal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5876" y="1280160"/>
            <a:ext cx="593994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assets/04-introduction/tech-cavities.svg</a:t>
            </a:r>
          </a:p>
        </p:txBody>
      </p:sp>
      <p:pic>
        <p:nvPicPr>
          <p:cNvPr id="3" name="Picture 2" descr="tech-cavities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347" y="1280160"/>
            <a:ext cx="8001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assets/04-introduction/tech-lattice.svg</a:t>
            </a:r>
          </a:p>
        </p:txBody>
      </p:sp>
      <p:pic>
        <p:nvPicPr>
          <p:cNvPr id="3" name="Picture 2" descr="tech-lattic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347" y="1280160"/>
            <a:ext cx="8001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assets/04-introduction/tech-multimaterial.svg</a:t>
            </a:r>
          </a:p>
        </p:txBody>
      </p:sp>
      <p:pic>
        <p:nvPicPr>
          <p:cNvPr id="3" name="Picture 2" descr="tech-multimateria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347" y="1280160"/>
            <a:ext cx="8001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assets/03-contents/toc-conclusion.svg</a:t>
            </a:r>
          </a:p>
        </p:txBody>
      </p:sp>
      <p:pic>
        <p:nvPicPr>
          <p:cNvPr id="3" name="Picture 2" descr="toc-conclus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9495" y="1280160"/>
            <a:ext cx="563270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assets/03-contents/toc-cosimulation.svg</a:t>
            </a: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94C00043-2A2B-990C-E4A6-023E864C8CDC}"/>
              </a:ext>
            </a:extLst>
          </p:cNvPr>
          <p:cNvSpPr/>
          <p:nvPr/>
        </p:nvSpPr>
        <p:spPr>
          <a:xfrm>
            <a:off x="3740352" y="1587398"/>
            <a:ext cx="4710988" cy="4710988"/>
          </a:xfrm>
          <a:custGeom>
            <a:avLst/>
            <a:gdLst>
              <a:gd name="connsiteX0" fmla="*/ 4710989 w 4710988"/>
              <a:gd name="connsiteY0" fmla="*/ 2355495 h 4710988"/>
              <a:gd name="connsiteX1" fmla="*/ 2355495 w 4710988"/>
              <a:gd name="connsiteY1" fmla="*/ 4710989 h 4710988"/>
              <a:gd name="connsiteX2" fmla="*/ 0 w 4710988"/>
              <a:gd name="connsiteY2" fmla="*/ 2355495 h 4710988"/>
              <a:gd name="connsiteX3" fmla="*/ 2355495 w 4710988"/>
              <a:gd name="connsiteY3" fmla="*/ 0 h 4710988"/>
              <a:gd name="connsiteX4" fmla="*/ 4710989 w 4710988"/>
              <a:gd name="connsiteY4" fmla="*/ 2355495 h 471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0988" h="4710988">
                <a:moveTo>
                  <a:pt x="4710989" y="2355495"/>
                </a:moveTo>
                <a:cubicBezTo>
                  <a:pt x="4710989" y="3656398"/>
                  <a:pt x="3656398" y="4710989"/>
                  <a:pt x="2355495" y="4710989"/>
                </a:cubicBezTo>
                <a:cubicBezTo>
                  <a:pt x="1054591" y="4710989"/>
                  <a:pt x="0" y="3656398"/>
                  <a:pt x="0" y="2355495"/>
                </a:cubicBezTo>
                <a:cubicBezTo>
                  <a:pt x="0" y="1054591"/>
                  <a:pt x="1054591" y="0"/>
                  <a:pt x="2355495" y="0"/>
                </a:cubicBezTo>
                <a:cubicBezTo>
                  <a:pt x="3656398" y="0"/>
                  <a:pt x="4710989" y="1054591"/>
                  <a:pt x="4710989" y="2355495"/>
                </a:cubicBezTo>
                <a:close/>
              </a:path>
            </a:pathLst>
          </a:custGeom>
          <a:solidFill>
            <a:srgbClr val="EFE8FB"/>
          </a:solidFill>
          <a:ln w="5117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9FFDE7D2-EA93-FD69-B37F-2084303368AA}"/>
              </a:ext>
            </a:extLst>
          </p:cNvPr>
          <p:cNvSpPr/>
          <p:nvPr/>
        </p:nvSpPr>
        <p:spPr>
          <a:xfrm>
            <a:off x="3305099" y="2710282"/>
            <a:ext cx="1945843" cy="2560320"/>
          </a:xfrm>
          <a:custGeom>
            <a:avLst/>
            <a:gdLst>
              <a:gd name="connsiteX0" fmla="*/ 0 w 1945843"/>
              <a:gd name="connsiteY0" fmla="*/ 921715 h 2560320"/>
              <a:gd name="connsiteX1" fmla="*/ 972922 w 1945843"/>
              <a:gd name="connsiteY1" fmla="*/ 0 h 2560320"/>
              <a:gd name="connsiteX2" fmla="*/ 1945843 w 1945843"/>
              <a:gd name="connsiteY2" fmla="*/ 921715 h 2560320"/>
              <a:gd name="connsiteX3" fmla="*/ 1945843 w 1945843"/>
              <a:gd name="connsiteY3" fmla="*/ 2560320 h 2560320"/>
              <a:gd name="connsiteX4" fmla="*/ 0 w 1945843"/>
              <a:gd name="connsiteY4" fmla="*/ 25603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5843" h="2560320">
                <a:moveTo>
                  <a:pt x="0" y="921715"/>
                </a:moveTo>
                <a:lnTo>
                  <a:pt x="972922" y="0"/>
                </a:lnTo>
                <a:lnTo>
                  <a:pt x="1945843" y="921715"/>
                </a:lnTo>
                <a:lnTo>
                  <a:pt x="1945843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FFFFF"/>
          </a:solidFill>
          <a:ln w="179113" cap="flat">
            <a:solidFill>
              <a:srgbClr val="4D0DAB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793D84E1-B484-F427-6C86-90C5A5A2F665}"/>
              </a:ext>
            </a:extLst>
          </p:cNvPr>
          <p:cNvSpPr/>
          <p:nvPr/>
        </p:nvSpPr>
        <p:spPr>
          <a:xfrm>
            <a:off x="3868369" y="4246474"/>
            <a:ext cx="819302" cy="1024128"/>
          </a:xfrm>
          <a:custGeom>
            <a:avLst/>
            <a:gdLst>
              <a:gd name="connsiteX0" fmla="*/ 0 w 819302"/>
              <a:gd name="connsiteY0" fmla="*/ 1024128 h 1024128"/>
              <a:gd name="connsiteX1" fmla="*/ 0 w 819302"/>
              <a:gd name="connsiteY1" fmla="*/ 0 h 1024128"/>
              <a:gd name="connsiteX2" fmla="*/ 819302 w 819302"/>
              <a:gd name="connsiteY2" fmla="*/ 0 h 1024128"/>
              <a:gd name="connsiteX3" fmla="*/ 819302 w 819302"/>
              <a:gd name="connsiteY3" fmla="*/ 1024128 h 1024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9302" h="1024128">
                <a:moveTo>
                  <a:pt x="0" y="1024128"/>
                </a:moveTo>
                <a:lnTo>
                  <a:pt x="0" y="0"/>
                </a:lnTo>
                <a:lnTo>
                  <a:pt x="819302" y="0"/>
                </a:lnTo>
                <a:lnTo>
                  <a:pt x="819302" y="1024128"/>
                </a:lnTo>
              </a:path>
            </a:pathLst>
          </a:custGeom>
          <a:noFill/>
          <a:ln w="153526" cap="flat">
            <a:solidFill>
              <a:srgbClr val="4D0DAB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D2C23EF8-79F5-A8C8-92DB-A0EEB50FA98C}"/>
              </a:ext>
            </a:extLst>
          </p:cNvPr>
          <p:cNvSpPr/>
          <p:nvPr/>
        </p:nvSpPr>
        <p:spPr>
          <a:xfrm>
            <a:off x="7043165" y="2710282"/>
            <a:ext cx="768096" cy="2560320"/>
          </a:xfrm>
          <a:custGeom>
            <a:avLst/>
            <a:gdLst>
              <a:gd name="connsiteX0" fmla="*/ 0 w 768096"/>
              <a:gd name="connsiteY0" fmla="*/ 0 h 2560320"/>
              <a:gd name="connsiteX1" fmla="*/ 768096 w 768096"/>
              <a:gd name="connsiteY1" fmla="*/ 0 h 2560320"/>
              <a:gd name="connsiteX2" fmla="*/ 768096 w 768096"/>
              <a:gd name="connsiteY2" fmla="*/ 2560320 h 2560320"/>
              <a:gd name="connsiteX3" fmla="*/ 0 w 768096"/>
              <a:gd name="connsiteY3" fmla="*/ 25603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96" h="2560320">
                <a:moveTo>
                  <a:pt x="0" y="0"/>
                </a:moveTo>
                <a:lnTo>
                  <a:pt x="768096" y="0"/>
                </a:lnTo>
                <a:lnTo>
                  <a:pt x="768096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BFBFBF"/>
          </a:solidFill>
          <a:ln w="5117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1967CF16-2751-C61E-A161-70FD08B85F30}"/>
              </a:ext>
            </a:extLst>
          </p:cNvPr>
          <p:cNvSpPr/>
          <p:nvPr/>
        </p:nvSpPr>
        <p:spPr>
          <a:xfrm>
            <a:off x="7811261" y="2710282"/>
            <a:ext cx="768096" cy="2560320"/>
          </a:xfrm>
          <a:custGeom>
            <a:avLst/>
            <a:gdLst>
              <a:gd name="connsiteX0" fmla="*/ 0 w 768096"/>
              <a:gd name="connsiteY0" fmla="*/ 0 h 2560320"/>
              <a:gd name="connsiteX1" fmla="*/ 768096 w 768096"/>
              <a:gd name="connsiteY1" fmla="*/ 0 h 2560320"/>
              <a:gd name="connsiteX2" fmla="*/ 768096 w 768096"/>
              <a:gd name="connsiteY2" fmla="*/ 2560320 h 2560320"/>
              <a:gd name="connsiteX3" fmla="*/ 0 w 768096"/>
              <a:gd name="connsiteY3" fmla="*/ 25603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8096" h="2560320">
                <a:moveTo>
                  <a:pt x="0" y="0"/>
                </a:moveTo>
                <a:lnTo>
                  <a:pt x="768096" y="0"/>
                </a:lnTo>
                <a:lnTo>
                  <a:pt x="768096" y="2560320"/>
                </a:lnTo>
                <a:lnTo>
                  <a:pt x="0" y="2560320"/>
                </a:lnTo>
                <a:close/>
              </a:path>
            </a:pathLst>
          </a:custGeom>
          <a:solidFill>
            <a:srgbClr val="FEF6B6"/>
          </a:solidFill>
          <a:ln w="5117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4AC45BF8-81AC-53C3-C5D9-CEA2DBCC7EDE}"/>
              </a:ext>
            </a:extLst>
          </p:cNvPr>
          <p:cNvSpPr/>
          <p:nvPr/>
        </p:nvSpPr>
        <p:spPr>
          <a:xfrm>
            <a:off x="7811261" y="2710282"/>
            <a:ext cx="51206" cy="2560320"/>
          </a:xfrm>
          <a:custGeom>
            <a:avLst/>
            <a:gdLst>
              <a:gd name="connsiteX0" fmla="*/ 0 w 51206"/>
              <a:gd name="connsiteY0" fmla="*/ 0 h 2560320"/>
              <a:gd name="connsiteX1" fmla="*/ 0 w 51206"/>
              <a:gd name="connsiteY1" fmla="*/ 25603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206" h="2560320">
                <a:moveTo>
                  <a:pt x="0" y="0"/>
                </a:moveTo>
                <a:lnTo>
                  <a:pt x="0" y="2560320"/>
                </a:lnTo>
              </a:path>
            </a:pathLst>
          </a:custGeom>
          <a:solidFill>
            <a:srgbClr val="000000"/>
          </a:solidFill>
          <a:ln w="127938" cap="flat">
            <a:solidFill>
              <a:srgbClr val="00294B"/>
            </a:solidFill>
            <a:custDash>
              <a:ds d="300000" sp="300000"/>
            </a:custDash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BBB0256C-EFF2-6723-9E89-DC71407F451F}"/>
              </a:ext>
            </a:extLst>
          </p:cNvPr>
          <p:cNvSpPr/>
          <p:nvPr/>
        </p:nvSpPr>
        <p:spPr>
          <a:xfrm>
            <a:off x="7043165" y="2710282"/>
            <a:ext cx="1536192" cy="2560320"/>
          </a:xfrm>
          <a:custGeom>
            <a:avLst/>
            <a:gdLst>
              <a:gd name="connsiteX0" fmla="*/ 0 w 1536192"/>
              <a:gd name="connsiteY0" fmla="*/ 0 h 2560320"/>
              <a:gd name="connsiteX1" fmla="*/ 1536192 w 1536192"/>
              <a:gd name="connsiteY1" fmla="*/ 0 h 2560320"/>
              <a:gd name="connsiteX2" fmla="*/ 1536192 w 1536192"/>
              <a:gd name="connsiteY2" fmla="*/ 2560320 h 2560320"/>
              <a:gd name="connsiteX3" fmla="*/ 0 w 1536192"/>
              <a:gd name="connsiteY3" fmla="*/ 2560320 h 256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6192" h="2560320">
                <a:moveTo>
                  <a:pt x="0" y="0"/>
                </a:moveTo>
                <a:lnTo>
                  <a:pt x="1536192" y="0"/>
                </a:lnTo>
                <a:lnTo>
                  <a:pt x="1536192" y="2560320"/>
                </a:lnTo>
                <a:lnTo>
                  <a:pt x="0" y="2560320"/>
                </a:lnTo>
                <a:close/>
              </a:path>
            </a:pathLst>
          </a:custGeom>
          <a:noFill/>
          <a:ln w="179113" cap="flat">
            <a:solidFill>
              <a:srgbClr val="00294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46E57938-3CBC-64E1-163B-5FC640F6036F}"/>
              </a:ext>
            </a:extLst>
          </p:cNvPr>
          <p:cNvSpPr/>
          <p:nvPr/>
        </p:nvSpPr>
        <p:spPr>
          <a:xfrm>
            <a:off x="5041392" y="2043459"/>
            <a:ext cx="1408175" cy="509049"/>
          </a:xfrm>
          <a:custGeom>
            <a:avLst/>
            <a:gdLst>
              <a:gd name="connsiteX0" fmla="*/ 0 w 1024128"/>
              <a:gd name="connsiteY0" fmla="*/ 509049 h 509049"/>
              <a:gd name="connsiteX1" fmla="*/ 1024128 w 1024128"/>
              <a:gd name="connsiteY1" fmla="*/ 201811 h 509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4128" h="509049">
                <a:moveTo>
                  <a:pt x="0" y="509049"/>
                </a:moveTo>
                <a:cubicBezTo>
                  <a:pt x="358445" y="-105428"/>
                  <a:pt x="819302" y="-105428"/>
                  <a:pt x="1024128" y="201811"/>
                </a:cubicBezTo>
              </a:path>
            </a:pathLst>
          </a:custGeom>
          <a:noFill/>
          <a:ln w="179113" cap="rnd">
            <a:solidFill>
              <a:srgbClr val="4D0DA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FC859FC7-3527-4DB4-3FA0-8EBB2D8108AC}"/>
              </a:ext>
            </a:extLst>
          </p:cNvPr>
          <p:cNvSpPr/>
          <p:nvPr/>
        </p:nvSpPr>
        <p:spPr>
          <a:xfrm rot="1545748">
            <a:off x="6449567" y="2091651"/>
            <a:ext cx="358444" cy="460857"/>
          </a:xfrm>
          <a:custGeom>
            <a:avLst/>
            <a:gdLst>
              <a:gd name="connsiteX0" fmla="*/ 51206 w 358444"/>
              <a:gd name="connsiteY0" fmla="*/ 0 h 460857"/>
              <a:gd name="connsiteX1" fmla="*/ 358445 w 358444"/>
              <a:gd name="connsiteY1" fmla="*/ 256032 h 460857"/>
              <a:gd name="connsiteX2" fmla="*/ 0 w 358444"/>
              <a:gd name="connsiteY2" fmla="*/ 460858 h 46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444" h="460857">
                <a:moveTo>
                  <a:pt x="51206" y="0"/>
                </a:moveTo>
                <a:lnTo>
                  <a:pt x="358445" y="256032"/>
                </a:lnTo>
                <a:lnTo>
                  <a:pt x="0" y="460858"/>
                </a:lnTo>
              </a:path>
            </a:pathLst>
          </a:custGeom>
          <a:noFill/>
          <a:ln w="179113" cap="rnd">
            <a:solidFill>
              <a:srgbClr val="4D0DAB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8F6CD644-3DE2-ED50-7568-8437BC25BE16}"/>
              </a:ext>
            </a:extLst>
          </p:cNvPr>
          <p:cNvSpPr/>
          <p:nvPr/>
        </p:nvSpPr>
        <p:spPr>
          <a:xfrm>
            <a:off x="5815717" y="5669365"/>
            <a:ext cx="1103019" cy="321416"/>
          </a:xfrm>
          <a:custGeom>
            <a:avLst/>
            <a:gdLst>
              <a:gd name="connsiteX0" fmla="*/ 1024128 w 1024128"/>
              <a:gd name="connsiteY0" fmla="*/ 0 h 321416"/>
              <a:gd name="connsiteX1" fmla="*/ 0 w 1024128"/>
              <a:gd name="connsiteY1" fmla="*/ 102413 h 321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4128" h="321416">
                <a:moveTo>
                  <a:pt x="1024128" y="0"/>
                </a:moveTo>
                <a:cubicBezTo>
                  <a:pt x="665683" y="409651"/>
                  <a:pt x="204826" y="409651"/>
                  <a:pt x="0" y="102413"/>
                </a:cubicBezTo>
              </a:path>
            </a:pathLst>
          </a:custGeom>
          <a:noFill/>
          <a:ln w="179113" cap="rnd">
            <a:solidFill>
              <a:srgbClr val="4D0DA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5" name="Forme libre : forme 14">
            <a:extLst>
              <a:ext uri="{FF2B5EF4-FFF2-40B4-BE49-F238E27FC236}">
                <a16:creationId xmlns:a16="http://schemas.microsoft.com/office/drawing/2014/main" id="{F849DA7E-4823-DFC5-11C9-995E415B2F34}"/>
              </a:ext>
            </a:extLst>
          </p:cNvPr>
          <p:cNvSpPr/>
          <p:nvPr/>
        </p:nvSpPr>
        <p:spPr>
          <a:xfrm rot="2228898">
            <a:off x="5486924" y="5422589"/>
            <a:ext cx="358444" cy="460857"/>
          </a:xfrm>
          <a:custGeom>
            <a:avLst/>
            <a:gdLst>
              <a:gd name="connsiteX0" fmla="*/ 307238 w 358444"/>
              <a:gd name="connsiteY0" fmla="*/ 460858 h 460857"/>
              <a:gd name="connsiteX1" fmla="*/ 0 w 358444"/>
              <a:gd name="connsiteY1" fmla="*/ 204826 h 460857"/>
              <a:gd name="connsiteX2" fmla="*/ 358445 w 358444"/>
              <a:gd name="connsiteY2" fmla="*/ 0 h 460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444" h="460857">
                <a:moveTo>
                  <a:pt x="307238" y="460858"/>
                </a:moveTo>
                <a:lnTo>
                  <a:pt x="0" y="204826"/>
                </a:lnTo>
                <a:lnTo>
                  <a:pt x="358445" y="0"/>
                </a:lnTo>
              </a:path>
            </a:pathLst>
          </a:custGeom>
          <a:noFill/>
          <a:ln w="179113" cap="rnd">
            <a:solidFill>
              <a:srgbClr val="4D0DAB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assets/03-contents/toc-introduction.svg</a:t>
            </a:r>
          </a:p>
        </p:txBody>
      </p:sp>
      <p:pic>
        <p:nvPicPr>
          <p:cNvPr id="3" name="Picture 2" descr="toc-introduction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9495" y="1280160"/>
            <a:ext cx="563270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assets/03-contents/toc-physical.svg</a:t>
            </a: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54AC4A84-9830-0021-8151-C1682113CCFE}"/>
              </a:ext>
            </a:extLst>
          </p:cNvPr>
          <p:cNvSpPr/>
          <p:nvPr/>
        </p:nvSpPr>
        <p:spPr>
          <a:xfrm>
            <a:off x="3740352" y="1587398"/>
            <a:ext cx="4710988" cy="4710988"/>
          </a:xfrm>
          <a:custGeom>
            <a:avLst/>
            <a:gdLst>
              <a:gd name="connsiteX0" fmla="*/ 4710989 w 4710988"/>
              <a:gd name="connsiteY0" fmla="*/ 2355495 h 4710988"/>
              <a:gd name="connsiteX1" fmla="*/ 2355495 w 4710988"/>
              <a:gd name="connsiteY1" fmla="*/ 4710989 h 4710988"/>
              <a:gd name="connsiteX2" fmla="*/ 0 w 4710988"/>
              <a:gd name="connsiteY2" fmla="*/ 2355495 h 4710988"/>
              <a:gd name="connsiteX3" fmla="*/ 2355495 w 4710988"/>
              <a:gd name="connsiteY3" fmla="*/ 0 h 4710988"/>
              <a:gd name="connsiteX4" fmla="*/ 4710989 w 4710988"/>
              <a:gd name="connsiteY4" fmla="*/ 2355495 h 471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10988" h="4710988">
                <a:moveTo>
                  <a:pt x="4710989" y="2355495"/>
                </a:moveTo>
                <a:cubicBezTo>
                  <a:pt x="4710989" y="3656398"/>
                  <a:pt x="3656398" y="4710989"/>
                  <a:pt x="2355495" y="4710989"/>
                </a:cubicBezTo>
                <a:cubicBezTo>
                  <a:pt x="1054591" y="4710989"/>
                  <a:pt x="0" y="3656398"/>
                  <a:pt x="0" y="2355495"/>
                </a:cubicBezTo>
                <a:cubicBezTo>
                  <a:pt x="0" y="1054591"/>
                  <a:pt x="1054591" y="0"/>
                  <a:pt x="2355495" y="0"/>
                </a:cubicBezTo>
                <a:cubicBezTo>
                  <a:pt x="3656398" y="0"/>
                  <a:pt x="4710989" y="1054591"/>
                  <a:pt x="4710989" y="2355495"/>
                </a:cubicBezTo>
                <a:close/>
              </a:path>
            </a:pathLst>
          </a:custGeom>
          <a:solidFill>
            <a:srgbClr val="E9EEF4"/>
          </a:solidFill>
          <a:ln w="5117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FAD0EC8D-34CE-62A6-E5B1-36D36321DF44}"/>
              </a:ext>
            </a:extLst>
          </p:cNvPr>
          <p:cNvSpPr/>
          <p:nvPr/>
        </p:nvSpPr>
        <p:spPr>
          <a:xfrm>
            <a:off x="5327751" y="1997049"/>
            <a:ext cx="1244796" cy="3891686"/>
          </a:xfrm>
          <a:custGeom>
            <a:avLst/>
            <a:gdLst>
              <a:gd name="connsiteX0" fmla="*/ 0 w 1244796"/>
              <a:gd name="connsiteY0" fmla="*/ 0 h 3891686"/>
              <a:gd name="connsiteX1" fmla="*/ 1126541 w 1244796"/>
              <a:gd name="connsiteY1" fmla="*/ 0 h 3891686"/>
              <a:gd name="connsiteX2" fmla="*/ 1126541 w 1244796"/>
              <a:gd name="connsiteY2" fmla="*/ 1945843 h 3891686"/>
              <a:gd name="connsiteX3" fmla="*/ 1126541 w 1244796"/>
              <a:gd name="connsiteY3" fmla="*/ 3891687 h 3891686"/>
              <a:gd name="connsiteX4" fmla="*/ 0 w 1244796"/>
              <a:gd name="connsiteY4" fmla="*/ 3891687 h 389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796" h="3891686">
                <a:moveTo>
                  <a:pt x="0" y="0"/>
                </a:moveTo>
                <a:lnTo>
                  <a:pt x="1126541" y="0"/>
                </a:lnTo>
                <a:cubicBezTo>
                  <a:pt x="716890" y="614477"/>
                  <a:pt x="1536192" y="1331366"/>
                  <a:pt x="1126541" y="1945843"/>
                </a:cubicBezTo>
                <a:cubicBezTo>
                  <a:pt x="716890" y="2560320"/>
                  <a:pt x="1536192" y="3277210"/>
                  <a:pt x="1126541" y="3891687"/>
                </a:cubicBezTo>
                <a:lnTo>
                  <a:pt x="0" y="3891687"/>
                </a:lnTo>
                <a:close/>
              </a:path>
            </a:pathLst>
          </a:custGeom>
          <a:solidFill>
            <a:srgbClr val="BFBFBF"/>
          </a:solidFill>
          <a:ln w="5117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A71A952B-2DD5-1356-8D01-7D5B844A7E7B}"/>
              </a:ext>
            </a:extLst>
          </p:cNvPr>
          <p:cNvSpPr/>
          <p:nvPr/>
        </p:nvSpPr>
        <p:spPr>
          <a:xfrm>
            <a:off x="6336035" y="1997049"/>
            <a:ext cx="1039971" cy="3891686"/>
          </a:xfrm>
          <a:custGeom>
            <a:avLst/>
            <a:gdLst>
              <a:gd name="connsiteX0" fmla="*/ 118256 w 1039971"/>
              <a:gd name="connsiteY0" fmla="*/ 0 h 3891686"/>
              <a:gd name="connsiteX1" fmla="*/ 1039971 w 1039971"/>
              <a:gd name="connsiteY1" fmla="*/ 0 h 3891686"/>
              <a:gd name="connsiteX2" fmla="*/ 1039971 w 1039971"/>
              <a:gd name="connsiteY2" fmla="*/ 3891687 h 3891686"/>
              <a:gd name="connsiteX3" fmla="*/ 118256 w 1039971"/>
              <a:gd name="connsiteY3" fmla="*/ 3891687 h 3891686"/>
              <a:gd name="connsiteX4" fmla="*/ 118256 w 1039971"/>
              <a:gd name="connsiteY4" fmla="*/ 1945843 h 3891686"/>
              <a:gd name="connsiteX5" fmla="*/ 118256 w 1039971"/>
              <a:gd name="connsiteY5" fmla="*/ 0 h 389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9971" h="3891686">
                <a:moveTo>
                  <a:pt x="118256" y="0"/>
                </a:moveTo>
                <a:lnTo>
                  <a:pt x="1039971" y="0"/>
                </a:lnTo>
                <a:lnTo>
                  <a:pt x="1039971" y="3891687"/>
                </a:lnTo>
                <a:lnTo>
                  <a:pt x="118256" y="3891687"/>
                </a:lnTo>
                <a:cubicBezTo>
                  <a:pt x="527907" y="3277210"/>
                  <a:pt x="-291395" y="2560320"/>
                  <a:pt x="118256" y="1945843"/>
                </a:cubicBezTo>
                <a:cubicBezTo>
                  <a:pt x="527907" y="1331366"/>
                  <a:pt x="-291395" y="614477"/>
                  <a:pt x="118256" y="0"/>
                </a:cubicBezTo>
                <a:close/>
              </a:path>
            </a:pathLst>
          </a:custGeom>
          <a:solidFill>
            <a:srgbClr val="FEF6B6"/>
          </a:solidFill>
          <a:ln w="51175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8" name="Forme libre : forme 7">
            <a:extLst>
              <a:ext uri="{FF2B5EF4-FFF2-40B4-BE49-F238E27FC236}">
                <a16:creationId xmlns:a16="http://schemas.microsoft.com/office/drawing/2014/main" id="{1959A8B1-73CB-C5BE-48C9-538F74DB1EE6}"/>
              </a:ext>
            </a:extLst>
          </p:cNvPr>
          <p:cNvSpPr/>
          <p:nvPr/>
        </p:nvSpPr>
        <p:spPr>
          <a:xfrm>
            <a:off x="6336035" y="1997049"/>
            <a:ext cx="236512" cy="3891686"/>
          </a:xfrm>
          <a:custGeom>
            <a:avLst/>
            <a:gdLst>
              <a:gd name="connsiteX0" fmla="*/ 118256 w 236512"/>
              <a:gd name="connsiteY0" fmla="*/ 0 h 3891686"/>
              <a:gd name="connsiteX1" fmla="*/ 118256 w 236512"/>
              <a:gd name="connsiteY1" fmla="*/ 1945843 h 3891686"/>
              <a:gd name="connsiteX2" fmla="*/ 118256 w 236512"/>
              <a:gd name="connsiteY2" fmla="*/ 3891687 h 389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512" h="3891686">
                <a:moveTo>
                  <a:pt x="118256" y="0"/>
                </a:moveTo>
                <a:cubicBezTo>
                  <a:pt x="-291395" y="614477"/>
                  <a:pt x="527907" y="1331366"/>
                  <a:pt x="118256" y="1945843"/>
                </a:cubicBezTo>
                <a:cubicBezTo>
                  <a:pt x="-291395" y="2560320"/>
                  <a:pt x="527907" y="3277210"/>
                  <a:pt x="118256" y="3891687"/>
                </a:cubicBezTo>
              </a:path>
            </a:pathLst>
          </a:custGeom>
          <a:noFill/>
          <a:ln w="127938" cap="flat">
            <a:solidFill>
              <a:srgbClr val="00294B"/>
            </a:solidFill>
            <a:custDash>
              <a:ds d="375000" sp="300000"/>
            </a:custDash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9" name="Forme libre : forme 8">
            <a:extLst>
              <a:ext uri="{FF2B5EF4-FFF2-40B4-BE49-F238E27FC236}">
                <a16:creationId xmlns:a16="http://schemas.microsoft.com/office/drawing/2014/main" id="{771034E5-B9B1-B89F-BEEA-0B5C8A3093C3}"/>
              </a:ext>
            </a:extLst>
          </p:cNvPr>
          <p:cNvSpPr/>
          <p:nvPr/>
        </p:nvSpPr>
        <p:spPr>
          <a:xfrm>
            <a:off x="5327751" y="1997049"/>
            <a:ext cx="2048256" cy="3891686"/>
          </a:xfrm>
          <a:custGeom>
            <a:avLst/>
            <a:gdLst>
              <a:gd name="connsiteX0" fmla="*/ 0 w 2048256"/>
              <a:gd name="connsiteY0" fmla="*/ 0 h 3891686"/>
              <a:gd name="connsiteX1" fmla="*/ 2048256 w 2048256"/>
              <a:gd name="connsiteY1" fmla="*/ 0 h 3891686"/>
              <a:gd name="connsiteX2" fmla="*/ 2048256 w 2048256"/>
              <a:gd name="connsiteY2" fmla="*/ 3891687 h 3891686"/>
              <a:gd name="connsiteX3" fmla="*/ 0 w 2048256"/>
              <a:gd name="connsiteY3" fmla="*/ 3891687 h 3891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48256" h="3891686">
                <a:moveTo>
                  <a:pt x="0" y="0"/>
                </a:moveTo>
                <a:lnTo>
                  <a:pt x="2048256" y="0"/>
                </a:lnTo>
                <a:lnTo>
                  <a:pt x="2048256" y="3891687"/>
                </a:lnTo>
                <a:lnTo>
                  <a:pt x="0" y="3891687"/>
                </a:lnTo>
                <a:close/>
              </a:path>
            </a:pathLst>
          </a:custGeom>
          <a:noFill/>
          <a:ln w="179113" cap="flat">
            <a:solidFill>
              <a:srgbClr val="00294B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0" name="Forme libre : forme 9">
            <a:extLst>
              <a:ext uri="{FF2B5EF4-FFF2-40B4-BE49-F238E27FC236}">
                <a16:creationId xmlns:a16="http://schemas.microsoft.com/office/drawing/2014/main" id="{8DE02BEA-38F8-97A6-7EC6-D4F30860EF81}"/>
              </a:ext>
            </a:extLst>
          </p:cNvPr>
          <p:cNvSpPr/>
          <p:nvPr/>
        </p:nvSpPr>
        <p:spPr>
          <a:xfrm>
            <a:off x="3893971" y="3021177"/>
            <a:ext cx="1126540" cy="1843430"/>
          </a:xfrm>
          <a:custGeom>
            <a:avLst/>
            <a:gdLst>
              <a:gd name="connsiteX0" fmla="*/ 0 w 1126540"/>
              <a:gd name="connsiteY0" fmla="*/ 0 h 1843430"/>
              <a:gd name="connsiteX1" fmla="*/ 1126541 w 1126540"/>
              <a:gd name="connsiteY1" fmla="*/ 0 h 1843430"/>
              <a:gd name="connsiteX2" fmla="*/ 0 w 1126540"/>
              <a:gd name="connsiteY2" fmla="*/ 921715 h 1843430"/>
              <a:gd name="connsiteX3" fmla="*/ 1126541 w 1126540"/>
              <a:gd name="connsiteY3" fmla="*/ 921715 h 1843430"/>
              <a:gd name="connsiteX4" fmla="*/ 0 w 1126540"/>
              <a:gd name="connsiteY4" fmla="*/ 1843430 h 1843430"/>
              <a:gd name="connsiteX5" fmla="*/ 1126541 w 1126540"/>
              <a:gd name="connsiteY5" fmla="*/ 1843430 h 1843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26540" h="1843430">
                <a:moveTo>
                  <a:pt x="0" y="0"/>
                </a:moveTo>
                <a:lnTo>
                  <a:pt x="1126541" y="0"/>
                </a:lnTo>
                <a:moveTo>
                  <a:pt x="0" y="921715"/>
                </a:moveTo>
                <a:lnTo>
                  <a:pt x="1126541" y="921715"/>
                </a:lnTo>
                <a:moveTo>
                  <a:pt x="0" y="1843430"/>
                </a:moveTo>
                <a:lnTo>
                  <a:pt x="1126541" y="1843430"/>
                </a:lnTo>
              </a:path>
            </a:pathLst>
          </a:custGeom>
          <a:solidFill>
            <a:srgbClr val="000000"/>
          </a:solidFill>
          <a:ln w="179113" cap="rnd">
            <a:solidFill>
              <a:srgbClr val="C0392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7FE67CFC-CC90-0FA8-0335-0D3E9CA45B98}"/>
              </a:ext>
            </a:extLst>
          </p:cNvPr>
          <p:cNvSpPr/>
          <p:nvPr/>
        </p:nvSpPr>
        <p:spPr>
          <a:xfrm>
            <a:off x="4713274" y="2713939"/>
            <a:ext cx="307238" cy="2457907"/>
          </a:xfrm>
          <a:custGeom>
            <a:avLst/>
            <a:gdLst>
              <a:gd name="connsiteX0" fmla="*/ 0 w 307238"/>
              <a:gd name="connsiteY0" fmla="*/ 0 h 2457907"/>
              <a:gd name="connsiteX1" fmla="*/ 307238 w 307238"/>
              <a:gd name="connsiteY1" fmla="*/ 307238 h 2457907"/>
              <a:gd name="connsiteX2" fmla="*/ 0 w 307238"/>
              <a:gd name="connsiteY2" fmla="*/ 614477 h 2457907"/>
              <a:gd name="connsiteX3" fmla="*/ 0 w 307238"/>
              <a:gd name="connsiteY3" fmla="*/ 921715 h 2457907"/>
              <a:gd name="connsiteX4" fmla="*/ 307238 w 307238"/>
              <a:gd name="connsiteY4" fmla="*/ 1228954 h 2457907"/>
              <a:gd name="connsiteX5" fmla="*/ 0 w 307238"/>
              <a:gd name="connsiteY5" fmla="*/ 1536192 h 2457907"/>
              <a:gd name="connsiteX6" fmla="*/ 0 w 307238"/>
              <a:gd name="connsiteY6" fmla="*/ 1843430 h 2457907"/>
              <a:gd name="connsiteX7" fmla="*/ 307238 w 307238"/>
              <a:gd name="connsiteY7" fmla="*/ 2150669 h 2457907"/>
              <a:gd name="connsiteX8" fmla="*/ 0 w 307238"/>
              <a:gd name="connsiteY8" fmla="*/ 2457907 h 245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7238" h="2457907">
                <a:moveTo>
                  <a:pt x="0" y="0"/>
                </a:moveTo>
                <a:lnTo>
                  <a:pt x="307238" y="307238"/>
                </a:lnTo>
                <a:lnTo>
                  <a:pt x="0" y="614477"/>
                </a:lnTo>
                <a:moveTo>
                  <a:pt x="0" y="921715"/>
                </a:moveTo>
                <a:lnTo>
                  <a:pt x="307238" y="1228954"/>
                </a:lnTo>
                <a:lnTo>
                  <a:pt x="0" y="1536192"/>
                </a:lnTo>
                <a:moveTo>
                  <a:pt x="0" y="1843430"/>
                </a:moveTo>
                <a:lnTo>
                  <a:pt x="307238" y="2150669"/>
                </a:lnTo>
                <a:lnTo>
                  <a:pt x="0" y="2457907"/>
                </a:lnTo>
              </a:path>
            </a:pathLst>
          </a:custGeom>
          <a:noFill/>
          <a:ln w="179113" cap="rnd">
            <a:solidFill>
              <a:srgbClr val="C0392B"/>
            </a:solidFill>
            <a:prstDash val="solid"/>
            <a:round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2" name="Forme libre : forme 11">
            <a:extLst>
              <a:ext uri="{FF2B5EF4-FFF2-40B4-BE49-F238E27FC236}">
                <a16:creationId xmlns:a16="http://schemas.microsoft.com/office/drawing/2014/main" id="{070C56F2-5D15-8D78-35F6-1C698D3794BF}"/>
              </a:ext>
            </a:extLst>
          </p:cNvPr>
          <p:cNvSpPr/>
          <p:nvPr/>
        </p:nvSpPr>
        <p:spPr>
          <a:xfrm>
            <a:off x="7683244" y="2816352"/>
            <a:ext cx="460857" cy="2253081"/>
          </a:xfrm>
          <a:custGeom>
            <a:avLst/>
            <a:gdLst>
              <a:gd name="connsiteX0" fmla="*/ 230429 w 460857"/>
              <a:gd name="connsiteY0" fmla="*/ 0 h 2253081"/>
              <a:gd name="connsiteX1" fmla="*/ 230429 w 460857"/>
              <a:gd name="connsiteY1" fmla="*/ 1126541 h 2253081"/>
              <a:gd name="connsiteX2" fmla="*/ 230429 w 460857"/>
              <a:gd name="connsiteY2" fmla="*/ 2253082 h 2253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0857" h="2253081">
                <a:moveTo>
                  <a:pt x="230429" y="0"/>
                </a:moveTo>
                <a:cubicBezTo>
                  <a:pt x="537667" y="307238"/>
                  <a:pt x="537667" y="716890"/>
                  <a:pt x="230429" y="1126541"/>
                </a:cubicBezTo>
                <a:cubicBezTo>
                  <a:pt x="-76810" y="1536192"/>
                  <a:pt x="-76810" y="1945843"/>
                  <a:pt x="230429" y="2253082"/>
                </a:cubicBezTo>
              </a:path>
            </a:pathLst>
          </a:custGeom>
          <a:noFill/>
          <a:ln w="153526" cap="rnd">
            <a:solidFill>
              <a:srgbClr val="4D0DAB"/>
            </a:solidFill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7D4C053-23DB-B4BA-F5FD-34BC75874D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59" r="4585"/>
          <a:stretch/>
        </p:blipFill>
        <p:spPr>
          <a:xfrm>
            <a:off x="1808142" y="855015"/>
            <a:ext cx="3008376" cy="457223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6E29662-9C82-AC31-40A2-C6DBFBDC8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0" r="52049"/>
          <a:stretch/>
        </p:blipFill>
        <p:spPr>
          <a:xfrm>
            <a:off x="4816518" y="1282700"/>
            <a:ext cx="2765850" cy="366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38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6C605DA9-98CC-E3B3-FD0B-2687FCAE2173}"/>
              </a:ext>
            </a:extLst>
          </p:cNvPr>
          <p:cNvGrpSpPr/>
          <p:nvPr/>
        </p:nvGrpSpPr>
        <p:grpSpPr>
          <a:xfrm>
            <a:off x="5879591" y="392621"/>
            <a:ext cx="5398008" cy="6072759"/>
            <a:chOff x="5879591" y="392621"/>
            <a:chExt cx="5398008" cy="6072759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B360D1D5-011C-FA34-F2FD-09EC8ABE2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79592" y="3429000"/>
              <a:ext cx="5398007" cy="3036380"/>
            </a:xfrm>
            <a:prstGeom prst="rect">
              <a:avLst/>
            </a:prstGeom>
            <a:ln w="38100">
              <a:solidFill>
                <a:srgbClr val="4D0DAB"/>
              </a:solidFill>
            </a:ln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9344D838-8727-F234-229C-196C819A2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79591" y="392621"/>
              <a:ext cx="5398007" cy="3036379"/>
            </a:xfrm>
            <a:prstGeom prst="round2SameRect">
              <a:avLst>
                <a:gd name="adj1" fmla="val 5374"/>
                <a:gd name="adj2" fmla="val 0"/>
              </a:avLst>
            </a:prstGeom>
            <a:ln w="38100">
              <a:solidFill>
                <a:srgbClr val="4D0DAB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90338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assets/05-physical/governing-boundaries-faint.svg</a:t>
            </a:r>
          </a:p>
        </p:txBody>
      </p:sp>
      <p:pic>
        <p:nvPicPr>
          <p:cNvPr id="3" name="Picture 2" descr="governing-boundaries-faint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4800" y="1280160"/>
            <a:ext cx="3657600" cy="5120640"/>
          </a:xfrm>
          <a:prstGeom prst="rect">
            <a:avLst/>
          </a:prstGeom>
        </p:spPr>
      </p:pic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2BE8D181-3DBA-03A9-EEC6-FA573E32973D}"/>
              </a:ext>
            </a:extLst>
          </p:cNvPr>
          <p:cNvSpPr/>
          <p:nvPr/>
        </p:nvSpPr>
        <p:spPr>
          <a:xfrm>
            <a:off x="1255776" y="1280160"/>
            <a:ext cx="3657600" cy="5120640"/>
          </a:xfrm>
          <a:custGeom>
            <a:avLst/>
            <a:gdLst>
              <a:gd name="connsiteX0" fmla="*/ 0 w 3657600"/>
              <a:gd name="connsiteY0" fmla="*/ 0 h 5120640"/>
              <a:gd name="connsiteX1" fmla="*/ 3657600 w 3657600"/>
              <a:gd name="connsiteY1" fmla="*/ 0 h 5120640"/>
              <a:gd name="connsiteX2" fmla="*/ 3657600 w 3657600"/>
              <a:gd name="connsiteY2" fmla="*/ 5120640 h 5120640"/>
              <a:gd name="connsiteX3" fmla="*/ 0 w 3657600"/>
              <a:gd name="connsiteY3" fmla="*/ 5120640 h 512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5120640">
                <a:moveTo>
                  <a:pt x="0" y="0"/>
                </a:moveTo>
                <a:lnTo>
                  <a:pt x="3657600" y="0"/>
                </a:lnTo>
                <a:lnTo>
                  <a:pt x="3657600" y="5120640"/>
                </a:lnTo>
                <a:lnTo>
                  <a:pt x="0" y="5120640"/>
                </a:lnTo>
                <a:close/>
              </a:path>
            </a:pathLst>
          </a:custGeom>
          <a:noFill/>
          <a:ln w="914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BA75C1C5-65AC-FFF2-A98D-B7804B6B5812}"/>
              </a:ext>
            </a:extLst>
          </p:cNvPr>
          <p:cNvGrpSpPr/>
          <p:nvPr/>
        </p:nvGrpSpPr>
        <p:grpSpPr>
          <a:xfrm>
            <a:off x="782969" y="2078883"/>
            <a:ext cx="2006567" cy="3849624"/>
            <a:chOff x="782969" y="2078883"/>
            <a:chExt cx="2006567" cy="3849624"/>
          </a:xfrm>
        </p:grpSpPr>
        <p:sp>
          <p:nvSpPr>
            <p:cNvPr id="48" name="Forme libre : forme 47">
              <a:extLst>
                <a:ext uri="{FF2B5EF4-FFF2-40B4-BE49-F238E27FC236}">
                  <a16:creationId xmlns:a16="http://schemas.microsoft.com/office/drawing/2014/main" id="{64456DFF-15A7-80CC-BA2A-7B1109636909}"/>
                </a:ext>
              </a:extLst>
            </p:cNvPr>
            <p:cNvSpPr/>
            <p:nvPr/>
          </p:nvSpPr>
          <p:spPr>
            <a:xfrm>
              <a:off x="782969" y="2078883"/>
              <a:ext cx="2006567" cy="3840480"/>
            </a:xfrm>
            <a:custGeom>
              <a:avLst/>
              <a:gdLst>
                <a:gd name="connsiteX0" fmla="*/ 120654 w 705869"/>
                <a:gd name="connsiteY0" fmla="*/ 0 h 3840480"/>
                <a:gd name="connsiteX1" fmla="*/ 120654 w 705869"/>
                <a:gd name="connsiteY1" fmla="*/ 1737360 h 3840480"/>
                <a:gd name="connsiteX2" fmla="*/ 138942 w 705869"/>
                <a:gd name="connsiteY2" fmla="*/ 3840480 h 3840480"/>
                <a:gd name="connsiteX3" fmla="*/ 705870 w 705869"/>
                <a:gd name="connsiteY3" fmla="*/ 3840480 h 3840480"/>
                <a:gd name="connsiteX4" fmla="*/ 705870 w 705869"/>
                <a:gd name="connsiteY4" fmla="*/ 0 h 384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5869" h="3840480">
                  <a:moveTo>
                    <a:pt x="120654" y="0"/>
                  </a:moveTo>
                  <a:cubicBezTo>
                    <a:pt x="-80514" y="457200"/>
                    <a:pt x="358398" y="1188720"/>
                    <a:pt x="120654" y="1737360"/>
                  </a:cubicBezTo>
                  <a:cubicBezTo>
                    <a:pt x="-245106" y="2468880"/>
                    <a:pt x="358398" y="3291840"/>
                    <a:pt x="138942" y="3840480"/>
                  </a:cubicBezTo>
                  <a:lnTo>
                    <a:pt x="705870" y="3840480"/>
                  </a:lnTo>
                  <a:lnTo>
                    <a:pt x="705870" y="0"/>
                  </a:lnTo>
                  <a:close/>
                </a:path>
              </a:pathLst>
            </a:custGeom>
            <a:solidFill>
              <a:srgbClr val="9AA3AD"/>
            </a:solidFill>
            <a:ln w="36576" cap="flat">
              <a:solidFill>
                <a:srgbClr val="4D0DAB">
                  <a:alpha val="35000"/>
                </a:srgbClr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E048E69C-4812-EF4B-FFD5-637221833B54}"/>
                </a:ext>
              </a:extLst>
            </p:cNvPr>
            <p:cNvSpPr/>
            <p:nvPr/>
          </p:nvSpPr>
          <p:spPr>
            <a:xfrm>
              <a:off x="1013956" y="2088027"/>
              <a:ext cx="1263071" cy="3840480"/>
            </a:xfrm>
            <a:custGeom>
              <a:avLst/>
              <a:gdLst>
                <a:gd name="connsiteX0" fmla="*/ 129659 w 1263071"/>
                <a:gd name="connsiteY0" fmla="*/ 0 h 3840480"/>
                <a:gd name="connsiteX1" fmla="*/ 56507 w 1263071"/>
                <a:gd name="connsiteY1" fmla="*/ 2194560 h 3840480"/>
                <a:gd name="connsiteX2" fmla="*/ 93083 w 1263071"/>
                <a:gd name="connsiteY2" fmla="*/ 3840480 h 3840480"/>
                <a:gd name="connsiteX3" fmla="*/ 1208651 w 1263071"/>
                <a:gd name="connsiteY3" fmla="*/ 3840480 h 3840480"/>
                <a:gd name="connsiteX4" fmla="*/ 1190363 w 1263071"/>
                <a:gd name="connsiteY4" fmla="*/ 1737360 h 3840480"/>
                <a:gd name="connsiteX5" fmla="*/ 1190363 w 1263071"/>
                <a:gd name="connsiteY5" fmla="*/ 0 h 384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63071" h="3840480">
                  <a:moveTo>
                    <a:pt x="129659" y="0"/>
                  </a:moveTo>
                  <a:cubicBezTo>
                    <a:pt x="-53221" y="822960"/>
                    <a:pt x="312539" y="1554480"/>
                    <a:pt x="56507" y="2194560"/>
                  </a:cubicBezTo>
                  <a:cubicBezTo>
                    <a:pt x="-126373" y="2743200"/>
                    <a:pt x="202811" y="3383280"/>
                    <a:pt x="93083" y="3840480"/>
                  </a:cubicBezTo>
                  <a:lnTo>
                    <a:pt x="1208651" y="3840480"/>
                  </a:lnTo>
                  <a:cubicBezTo>
                    <a:pt x="1428107" y="3291840"/>
                    <a:pt x="824603" y="2468880"/>
                    <a:pt x="1190363" y="1737360"/>
                  </a:cubicBezTo>
                  <a:cubicBezTo>
                    <a:pt x="1428107" y="1188720"/>
                    <a:pt x="989195" y="457200"/>
                    <a:pt x="1190363" y="0"/>
                  </a:cubicBezTo>
                  <a:close/>
                </a:path>
              </a:pathLst>
            </a:custGeom>
            <a:noFill/>
            <a:ln w="91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E1AADF5E-F7D5-BDD6-A78F-37953DD4B3DA}"/>
                </a:ext>
              </a:extLst>
            </p:cNvPr>
            <p:cNvGrpSpPr/>
            <p:nvPr/>
          </p:nvGrpSpPr>
          <p:grpSpPr>
            <a:xfrm>
              <a:off x="1834328" y="2100727"/>
              <a:ext cx="942445" cy="3802063"/>
              <a:chOff x="3293106" y="1828800"/>
              <a:chExt cx="705869" cy="3840480"/>
            </a:xfrm>
          </p:grpSpPr>
          <p:sp>
            <p:nvSpPr>
              <p:cNvPr id="8" name="Forme libre : forme 7">
                <a:extLst>
                  <a:ext uri="{FF2B5EF4-FFF2-40B4-BE49-F238E27FC236}">
                    <a16:creationId xmlns:a16="http://schemas.microsoft.com/office/drawing/2014/main" id="{31B93ECC-83C1-F6CF-1E20-D7203F081833}"/>
                  </a:ext>
                </a:extLst>
              </p:cNvPr>
              <p:cNvSpPr/>
              <p:nvPr/>
            </p:nvSpPr>
            <p:spPr>
              <a:xfrm>
                <a:off x="3293106" y="1828800"/>
                <a:ext cx="705869" cy="3840480"/>
              </a:xfrm>
              <a:custGeom>
                <a:avLst/>
                <a:gdLst>
                  <a:gd name="connsiteX0" fmla="*/ 120654 w 705869"/>
                  <a:gd name="connsiteY0" fmla="*/ 0 h 3840480"/>
                  <a:gd name="connsiteX1" fmla="*/ 120654 w 705869"/>
                  <a:gd name="connsiteY1" fmla="*/ 1737360 h 3840480"/>
                  <a:gd name="connsiteX2" fmla="*/ 138942 w 705869"/>
                  <a:gd name="connsiteY2" fmla="*/ 3840480 h 3840480"/>
                  <a:gd name="connsiteX3" fmla="*/ 705870 w 705869"/>
                  <a:gd name="connsiteY3" fmla="*/ 3840480 h 3840480"/>
                  <a:gd name="connsiteX4" fmla="*/ 705870 w 705869"/>
                  <a:gd name="connsiteY4" fmla="*/ 0 h 384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5869" h="3840480">
                    <a:moveTo>
                      <a:pt x="120654" y="0"/>
                    </a:moveTo>
                    <a:cubicBezTo>
                      <a:pt x="-80514" y="457200"/>
                      <a:pt x="358398" y="1188720"/>
                      <a:pt x="120654" y="1737360"/>
                    </a:cubicBezTo>
                    <a:cubicBezTo>
                      <a:pt x="-245106" y="2468880"/>
                      <a:pt x="358398" y="3291840"/>
                      <a:pt x="138942" y="3840480"/>
                    </a:cubicBezTo>
                    <a:lnTo>
                      <a:pt x="705870" y="3840480"/>
                    </a:lnTo>
                    <a:lnTo>
                      <a:pt x="705870" y="0"/>
                    </a:lnTo>
                    <a:close/>
                  </a:path>
                </a:pathLst>
              </a:custGeom>
              <a:solidFill>
                <a:srgbClr val="F2D65C"/>
              </a:solidFill>
              <a:ln w="9144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252820ED-12C7-9914-3F5A-F7F96A3239DD}"/>
                  </a:ext>
                </a:extLst>
              </p:cNvPr>
              <p:cNvSpPr/>
              <p:nvPr/>
            </p:nvSpPr>
            <p:spPr>
              <a:xfrm>
                <a:off x="3293106" y="1828800"/>
                <a:ext cx="193362" cy="3840480"/>
              </a:xfrm>
              <a:custGeom>
                <a:avLst/>
                <a:gdLst>
                  <a:gd name="connsiteX0" fmla="*/ 120654 w 193362"/>
                  <a:gd name="connsiteY0" fmla="*/ 0 h 3840480"/>
                  <a:gd name="connsiteX1" fmla="*/ 120654 w 193362"/>
                  <a:gd name="connsiteY1" fmla="*/ 1737360 h 3840480"/>
                  <a:gd name="connsiteX2" fmla="*/ 138942 w 193362"/>
                  <a:gd name="connsiteY2" fmla="*/ 3840480 h 3840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3362" h="3840480">
                    <a:moveTo>
                      <a:pt x="120654" y="0"/>
                    </a:moveTo>
                    <a:cubicBezTo>
                      <a:pt x="-80514" y="457200"/>
                      <a:pt x="358398" y="1188720"/>
                      <a:pt x="120654" y="1737360"/>
                    </a:cubicBezTo>
                    <a:cubicBezTo>
                      <a:pt x="-245106" y="2468880"/>
                      <a:pt x="358398" y="3291840"/>
                      <a:pt x="138942" y="3840480"/>
                    </a:cubicBezTo>
                  </a:path>
                </a:pathLst>
              </a:custGeom>
              <a:noFill/>
              <a:ln w="27432" cap="flat">
                <a:solidFill>
                  <a:srgbClr val="D1495B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</p:grp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6F2CD886-B064-AF5F-531A-57CAD8AC8C8D}"/>
              </a:ext>
            </a:extLst>
          </p:cNvPr>
          <p:cNvSpPr/>
          <p:nvPr/>
        </p:nvSpPr>
        <p:spPr>
          <a:xfrm>
            <a:off x="3459651" y="1554480"/>
            <a:ext cx="3657600" cy="5120640"/>
          </a:xfrm>
          <a:custGeom>
            <a:avLst/>
            <a:gdLst>
              <a:gd name="connsiteX0" fmla="*/ 0 w 3657600"/>
              <a:gd name="connsiteY0" fmla="*/ 0 h 5120640"/>
              <a:gd name="connsiteX1" fmla="*/ 3657600 w 3657600"/>
              <a:gd name="connsiteY1" fmla="*/ 0 h 5120640"/>
              <a:gd name="connsiteX2" fmla="*/ 3657600 w 3657600"/>
              <a:gd name="connsiteY2" fmla="*/ 5120640 h 5120640"/>
              <a:gd name="connsiteX3" fmla="*/ 0 w 3657600"/>
              <a:gd name="connsiteY3" fmla="*/ 5120640 h 512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5120640">
                <a:moveTo>
                  <a:pt x="0" y="0"/>
                </a:moveTo>
                <a:lnTo>
                  <a:pt x="3657600" y="0"/>
                </a:lnTo>
                <a:lnTo>
                  <a:pt x="3657600" y="5120640"/>
                </a:lnTo>
                <a:lnTo>
                  <a:pt x="0" y="5120640"/>
                </a:lnTo>
                <a:close/>
              </a:path>
            </a:pathLst>
          </a:custGeom>
          <a:noFill/>
          <a:ln w="914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97A25064-ED44-E242-A68B-193A43FC6648}"/>
              </a:ext>
            </a:extLst>
          </p:cNvPr>
          <p:cNvSpPr/>
          <p:nvPr/>
        </p:nvSpPr>
        <p:spPr>
          <a:xfrm>
            <a:off x="4427271" y="2103120"/>
            <a:ext cx="1263071" cy="3840480"/>
          </a:xfrm>
          <a:custGeom>
            <a:avLst/>
            <a:gdLst>
              <a:gd name="connsiteX0" fmla="*/ 129659 w 1263071"/>
              <a:gd name="connsiteY0" fmla="*/ 0 h 3840480"/>
              <a:gd name="connsiteX1" fmla="*/ 56507 w 1263071"/>
              <a:gd name="connsiteY1" fmla="*/ 2194560 h 3840480"/>
              <a:gd name="connsiteX2" fmla="*/ 93083 w 1263071"/>
              <a:gd name="connsiteY2" fmla="*/ 3840480 h 3840480"/>
              <a:gd name="connsiteX3" fmla="*/ 1208651 w 1263071"/>
              <a:gd name="connsiteY3" fmla="*/ 3840480 h 3840480"/>
              <a:gd name="connsiteX4" fmla="*/ 1190363 w 1263071"/>
              <a:gd name="connsiteY4" fmla="*/ 1737360 h 3840480"/>
              <a:gd name="connsiteX5" fmla="*/ 1190363 w 1263071"/>
              <a:gd name="connsiteY5" fmla="*/ 0 h 384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3071" h="3840480">
                <a:moveTo>
                  <a:pt x="129659" y="0"/>
                </a:moveTo>
                <a:cubicBezTo>
                  <a:pt x="-53221" y="822960"/>
                  <a:pt x="312539" y="1554480"/>
                  <a:pt x="56507" y="2194560"/>
                </a:cubicBezTo>
                <a:cubicBezTo>
                  <a:pt x="-126373" y="2743200"/>
                  <a:pt x="202811" y="3383280"/>
                  <a:pt x="93083" y="3840480"/>
                </a:cubicBezTo>
                <a:lnTo>
                  <a:pt x="1208651" y="3840480"/>
                </a:lnTo>
                <a:cubicBezTo>
                  <a:pt x="1428107" y="3291840"/>
                  <a:pt x="824603" y="2468880"/>
                  <a:pt x="1190363" y="1737360"/>
                </a:cubicBezTo>
                <a:cubicBezTo>
                  <a:pt x="1428107" y="1188720"/>
                  <a:pt x="989195" y="457200"/>
                  <a:pt x="1190363" y="0"/>
                </a:cubicBezTo>
                <a:close/>
              </a:path>
            </a:pathLst>
          </a:custGeom>
          <a:noFill/>
          <a:ln w="9144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77CECCC-E87F-EEF7-F3FB-82CA305BB034}"/>
              </a:ext>
            </a:extLst>
          </p:cNvPr>
          <p:cNvSpPr txBox="1"/>
          <p:nvPr/>
        </p:nvSpPr>
        <p:spPr>
          <a:xfrm>
            <a:off x="4419680" y="4373883"/>
            <a:ext cx="740664" cy="246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125" spc="0" baseline="0">
                <a:ln/>
                <a:solidFill>
                  <a:srgbClr val="1D2733"/>
                </a:solidFill>
                <a:latin typeface="Arial"/>
                <a:cs typeface="Arial"/>
                <a:sym typeface="Arial"/>
                <a:rtl val="0"/>
              </a:rPr>
              <a:t>structural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D575F5BB-0A9E-9C83-E8AD-A20716A02671}"/>
              </a:ext>
            </a:extLst>
          </p:cNvPr>
          <p:cNvSpPr txBox="1"/>
          <p:nvPr/>
        </p:nvSpPr>
        <p:spPr>
          <a:xfrm>
            <a:off x="5415166" y="4151053"/>
            <a:ext cx="740664" cy="2468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fr-FR" sz="1125" spc="0" baseline="0" dirty="0">
                <a:ln/>
                <a:solidFill>
                  <a:srgbClr val="1D2733"/>
                </a:solidFill>
                <a:latin typeface="Arial"/>
                <a:cs typeface="Arial"/>
                <a:sym typeface="Arial"/>
                <a:rtl val="0"/>
              </a:rPr>
              <a:t>insulation</a:t>
            </a:r>
          </a:p>
        </p:txBody>
      </p:sp>
      <p:grpSp>
        <p:nvGrpSpPr>
          <p:cNvPr id="75" name="Picture 2" descr="governing-boundaries-faint.svg">
            <a:extLst>
              <a:ext uri="{FF2B5EF4-FFF2-40B4-BE49-F238E27FC236}">
                <a16:creationId xmlns:a16="http://schemas.microsoft.com/office/drawing/2014/main" id="{E610FA24-A092-6C10-399E-EBA53069DB21}"/>
              </a:ext>
            </a:extLst>
          </p:cNvPr>
          <p:cNvGrpSpPr/>
          <p:nvPr/>
        </p:nvGrpSpPr>
        <p:grpSpPr>
          <a:xfrm>
            <a:off x="4520355" y="2103120"/>
            <a:ext cx="2495716" cy="4176791"/>
            <a:chOff x="4520355" y="2103120"/>
            <a:chExt cx="2495716" cy="4176791"/>
          </a:xfrm>
        </p:grpSpPr>
        <p:sp>
          <p:nvSpPr>
            <p:cNvPr id="76" name="Forme libre : forme 75">
              <a:extLst>
                <a:ext uri="{FF2B5EF4-FFF2-40B4-BE49-F238E27FC236}">
                  <a16:creationId xmlns:a16="http://schemas.microsoft.com/office/drawing/2014/main" id="{5703F06E-2FDF-6F42-2562-79DE288EC379}"/>
                </a:ext>
              </a:extLst>
            </p:cNvPr>
            <p:cNvSpPr/>
            <p:nvPr/>
          </p:nvSpPr>
          <p:spPr>
            <a:xfrm>
              <a:off x="4801037" y="5111496"/>
              <a:ext cx="9144" cy="640080"/>
            </a:xfrm>
            <a:custGeom>
              <a:avLst/>
              <a:gdLst>
                <a:gd name="connsiteX0" fmla="*/ 0 w 9144"/>
                <a:gd name="connsiteY0" fmla="*/ 640080 h 640080"/>
                <a:gd name="connsiteX1" fmla="*/ 0 w 9144"/>
                <a:gd name="connsiteY1" fmla="*/ 0 h 64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" h="640080">
                  <a:moveTo>
                    <a:pt x="0" y="640080"/>
                  </a:moveTo>
                  <a:lnTo>
                    <a:pt x="0" y="0"/>
                  </a:lnTo>
                </a:path>
              </a:pathLst>
            </a:custGeom>
            <a:ln w="16459" cap="flat">
              <a:solidFill>
                <a:srgbClr val="222222"/>
              </a:solidFill>
              <a:prstDash val="solid"/>
              <a:miter/>
              <a:tailEnd type="triangle"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7" name="Forme libre : forme 76">
              <a:extLst>
                <a:ext uri="{FF2B5EF4-FFF2-40B4-BE49-F238E27FC236}">
                  <a16:creationId xmlns:a16="http://schemas.microsoft.com/office/drawing/2014/main" id="{BFE8E076-7298-66D7-28B1-7666FF30DDCB}"/>
                </a:ext>
              </a:extLst>
            </p:cNvPr>
            <p:cNvSpPr/>
            <p:nvPr/>
          </p:nvSpPr>
          <p:spPr>
            <a:xfrm>
              <a:off x="4801037" y="5751576"/>
              <a:ext cx="640080" cy="9144"/>
            </a:xfrm>
            <a:custGeom>
              <a:avLst/>
              <a:gdLst>
                <a:gd name="connsiteX0" fmla="*/ 0 w 640080"/>
                <a:gd name="connsiteY0" fmla="*/ 0 h 9144"/>
                <a:gd name="connsiteX1" fmla="*/ 640080 w 640080"/>
                <a:gd name="connsiteY1" fmla="*/ 0 h 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40080" h="9144">
                  <a:moveTo>
                    <a:pt x="0" y="0"/>
                  </a:moveTo>
                  <a:lnTo>
                    <a:pt x="640080" y="0"/>
                  </a:lnTo>
                </a:path>
              </a:pathLst>
            </a:custGeom>
            <a:ln w="16459" cap="flat">
              <a:solidFill>
                <a:srgbClr val="222222"/>
              </a:solidFill>
              <a:prstDash val="solid"/>
              <a:miter/>
              <a:headEnd type="none"/>
              <a:tailEnd type="triangle"/>
            </a:ln>
          </p:spPr>
          <p:txBody>
            <a:bodyPr rtlCol="0" anchor="ctr"/>
            <a:lstStyle/>
            <a:p>
              <a:endParaRPr lang="fr-FR" dirty="0"/>
            </a:p>
          </p:txBody>
        </p:sp>
        <p:sp>
          <p:nvSpPr>
            <p:cNvPr id="78" name="Forme libre : forme 77">
              <a:extLst>
                <a:ext uri="{FF2B5EF4-FFF2-40B4-BE49-F238E27FC236}">
                  <a16:creationId xmlns:a16="http://schemas.microsoft.com/office/drawing/2014/main" id="{541F2DB8-FC6F-732D-821E-411CF4F66D5E}"/>
                </a:ext>
              </a:extLst>
            </p:cNvPr>
            <p:cNvSpPr/>
            <p:nvPr/>
          </p:nvSpPr>
          <p:spPr>
            <a:xfrm>
              <a:off x="7006927" y="2103120"/>
              <a:ext cx="9144" cy="3840480"/>
            </a:xfrm>
            <a:custGeom>
              <a:avLst/>
              <a:gdLst>
                <a:gd name="connsiteX0" fmla="*/ 0 w 9144"/>
                <a:gd name="connsiteY0" fmla="*/ 0 h 3840480"/>
                <a:gd name="connsiteX1" fmla="*/ 0 w 9144"/>
                <a:gd name="connsiteY1" fmla="*/ 3840480 h 384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" h="3840480">
                  <a:moveTo>
                    <a:pt x="0" y="0"/>
                  </a:moveTo>
                  <a:lnTo>
                    <a:pt x="0" y="3840480"/>
                  </a:lnTo>
                </a:path>
              </a:pathLst>
            </a:custGeom>
            <a:ln w="16459" cap="flat">
              <a:solidFill>
                <a:srgbClr val="222222"/>
              </a:solidFill>
              <a:prstDash val="solid"/>
              <a:miter/>
              <a:headEnd type="triangle"/>
              <a:tailEnd type="triangle"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79" name="Forme libre : forme 78">
              <a:extLst>
                <a:ext uri="{FF2B5EF4-FFF2-40B4-BE49-F238E27FC236}">
                  <a16:creationId xmlns:a16="http://schemas.microsoft.com/office/drawing/2014/main" id="{E08BCBDB-7DEA-D274-A754-0E96C934EA07}"/>
                </a:ext>
              </a:extLst>
            </p:cNvPr>
            <p:cNvSpPr/>
            <p:nvPr/>
          </p:nvSpPr>
          <p:spPr>
            <a:xfrm>
              <a:off x="4520355" y="6270767"/>
              <a:ext cx="1682496" cy="9144"/>
            </a:xfrm>
            <a:custGeom>
              <a:avLst/>
              <a:gdLst>
                <a:gd name="connsiteX0" fmla="*/ 0 w 1682496"/>
                <a:gd name="connsiteY0" fmla="*/ 0 h 9144"/>
                <a:gd name="connsiteX1" fmla="*/ 1682496 w 1682496"/>
                <a:gd name="connsiteY1" fmla="*/ 0 h 9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82496" h="9144">
                  <a:moveTo>
                    <a:pt x="0" y="0"/>
                  </a:moveTo>
                  <a:lnTo>
                    <a:pt x="1682496" y="0"/>
                  </a:lnTo>
                </a:path>
              </a:pathLst>
            </a:custGeom>
            <a:ln w="16459" cap="flat">
              <a:solidFill>
                <a:srgbClr val="222222"/>
              </a:solidFill>
              <a:prstDash val="solid"/>
              <a:miter/>
              <a:headEnd type="triangle"/>
              <a:tailEnd type="triangle"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74DB5EDC-1324-486D-ADD8-A0E7C5F51E6E}"/>
                  </a:ext>
                </a:extLst>
              </p:cNvPr>
              <p:cNvSpPr txBox="1"/>
              <p:nvPr/>
            </p:nvSpPr>
            <p:spPr>
              <a:xfrm>
                <a:off x="5155196" y="5436601"/>
                <a:ext cx="345992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500" b="0" i="1" spc="0" baseline="0" smtClean="0">
                          <a:ln/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𝑥</m:t>
                      </m:r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74DB5EDC-1324-486D-ADD8-A0E7C5F51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196" y="5436601"/>
                <a:ext cx="345992" cy="323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EF65B2FA-9E30-F155-904D-2D9A3E22E685}"/>
                  </a:ext>
                </a:extLst>
              </p:cNvPr>
              <p:cNvSpPr txBox="1"/>
              <p:nvPr/>
            </p:nvSpPr>
            <p:spPr>
              <a:xfrm>
                <a:off x="4778103" y="4971211"/>
                <a:ext cx="348236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500" b="0" i="1" spc="0" baseline="0" smtClean="0">
                          <a:ln/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𝑦</m:t>
                      </m:r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EF65B2FA-9E30-F155-904D-2D9A3E22E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103" y="4971211"/>
                <a:ext cx="348236" cy="323165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35DC4A43-E1BB-CDDE-4FDD-FDCEE8A4B715}"/>
                  </a:ext>
                </a:extLst>
              </p:cNvPr>
              <p:cNvSpPr txBox="1"/>
              <p:nvPr/>
            </p:nvSpPr>
            <p:spPr>
              <a:xfrm>
                <a:off x="5566124" y="5514417"/>
                <a:ext cx="5111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fr-FR" sz="2000" i="1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Г</m:t>
                          </m:r>
                        </m:e>
                        <m:sub>
                          <m:r>
                            <a:rPr lang="fr-FR" sz="2000" b="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35DC4A43-E1BB-CDDE-4FDD-FDCEE8A4B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6124" y="5514417"/>
                <a:ext cx="511101" cy="400110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AA6F98B5-9C9E-10D2-A147-287D2427EC91}"/>
                  </a:ext>
                </a:extLst>
              </p:cNvPr>
              <p:cNvSpPr txBox="1"/>
              <p:nvPr/>
            </p:nvSpPr>
            <p:spPr>
              <a:xfrm>
                <a:off x="6991826" y="3521656"/>
                <a:ext cx="38266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500" b="0" i="1" spc="0" baseline="0" smtClean="0">
                          <a:ln/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𝐻</m:t>
                      </m:r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AA6F98B5-9C9E-10D2-A147-287D2427EC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1826" y="3521656"/>
                <a:ext cx="382669" cy="3231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58C0423E-EFAA-901C-6782-FD7B7E82AE86}"/>
                  </a:ext>
                </a:extLst>
              </p:cNvPr>
              <p:cNvSpPr txBox="1"/>
              <p:nvPr/>
            </p:nvSpPr>
            <p:spPr>
              <a:xfrm>
                <a:off x="4509283" y="4034624"/>
                <a:ext cx="54361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Ω</m:t>
                          </m:r>
                        </m:e>
                        <m:sub>
                          <m:r>
                            <a:rPr lang="fr-FR" sz="2000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96" name="ZoneTexte 95">
                <a:extLst>
                  <a:ext uri="{FF2B5EF4-FFF2-40B4-BE49-F238E27FC236}">
                    <a16:creationId xmlns:a16="http://schemas.microsoft.com/office/drawing/2014/main" id="{58C0423E-EFAA-901C-6782-FD7B7E82A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9283" y="4034624"/>
                <a:ext cx="543610" cy="400110"/>
              </a:xfrm>
              <a:prstGeom prst="rect">
                <a:avLst/>
              </a:prstGeom>
              <a:blipFill>
                <a:blip r:embed="rId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E2039139-59A0-A0CE-1DC7-4645FE9EDEBD}"/>
                  </a:ext>
                </a:extLst>
              </p:cNvPr>
              <p:cNvSpPr txBox="1"/>
              <p:nvPr/>
            </p:nvSpPr>
            <p:spPr>
              <a:xfrm>
                <a:off x="5197011" y="6223200"/>
                <a:ext cx="344132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500" b="0" i="1" spc="0" baseline="0" smtClean="0">
                          <a:ln/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𝐿</m:t>
                      </m:r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97" name="ZoneTexte 96">
                <a:extLst>
                  <a:ext uri="{FF2B5EF4-FFF2-40B4-BE49-F238E27FC236}">
                    <a16:creationId xmlns:a16="http://schemas.microsoft.com/office/drawing/2014/main" id="{E2039139-59A0-A0CE-1DC7-4645FE9ED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7011" y="6223200"/>
                <a:ext cx="344132" cy="3231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ZoneTexte 97">
                <a:extLst>
                  <a:ext uri="{FF2B5EF4-FFF2-40B4-BE49-F238E27FC236}">
                    <a16:creationId xmlns:a16="http://schemas.microsoft.com/office/drawing/2014/main" id="{64C8BB15-E7EE-D564-DF49-73AFFCF88B20}"/>
                  </a:ext>
                </a:extLst>
              </p:cNvPr>
              <p:cNvSpPr txBox="1"/>
              <p:nvPr/>
            </p:nvSpPr>
            <p:spPr>
              <a:xfrm>
                <a:off x="4730731" y="2029131"/>
                <a:ext cx="5111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fr-FR" sz="2000" i="1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Г</m:t>
                          </m:r>
                        </m:e>
                        <m:sub>
                          <m:r>
                            <a:rPr lang="fr-FR" sz="2000" b="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98" name="ZoneTexte 97">
                <a:extLst>
                  <a:ext uri="{FF2B5EF4-FFF2-40B4-BE49-F238E27FC236}">
                    <a16:creationId xmlns:a16="http://schemas.microsoft.com/office/drawing/2014/main" id="{64C8BB15-E7EE-D564-DF49-73AFFCF88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731" y="2029131"/>
                <a:ext cx="511101" cy="400110"/>
              </a:xfrm>
              <a:prstGeom prst="rect">
                <a:avLst/>
              </a:prstGeom>
              <a:blipFill>
                <a:blip r:embed="rId10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ZoneTexte 98">
                <a:extLst>
                  <a:ext uri="{FF2B5EF4-FFF2-40B4-BE49-F238E27FC236}">
                    <a16:creationId xmlns:a16="http://schemas.microsoft.com/office/drawing/2014/main" id="{1857AD19-F22B-2C5D-2C58-0345892F108A}"/>
                  </a:ext>
                </a:extLst>
              </p:cNvPr>
              <p:cNvSpPr txBox="1"/>
              <p:nvPr/>
            </p:nvSpPr>
            <p:spPr>
              <a:xfrm>
                <a:off x="4294974" y="3146649"/>
                <a:ext cx="5051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fr-FR" sz="2000" i="1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Г</m:t>
                          </m:r>
                        </m:e>
                        <m:sub>
                          <m:r>
                            <a:rPr lang="fr-FR" sz="2000" b="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99" name="ZoneTexte 98">
                <a:extLst>
                  <a:ext uri="{FF2B5EF4-FFF2-40B4-BE49-F238E27FC236}">
                    <a16:creationId xmlns:a16="http://schemas.microsoft.com/office/drawing/2014/main" id="{1857AD19-F22B-2C5D-2C58-0345892F1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974" y="3146649"/>
                <a:ext cx="505138" cy="400110"/>
              </a:xfrm>
              <a:prstGeom prst="rect">
                <a:avLst/>
              </a:prstGeom>
              <a:blipFill>
                <a:blip r:embed="rId11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ZoneTexte 99">
                <a:extLst>
                  <a:ext uri="{FF2B5EF4-FFF2-40B4-BE49-F238E27FC236}">
                    <a16:creationId xmlns:a16="http://schemas.microsoft.com/office/drawing/2014/main" id="{BEA8348F-C658-BE28-C4C2-DEADEAD40226}"/>
                  </a:ext>
                </a:extLst>
              </p:cNvPr>
              <p:cNvSpPr txBox="1"/>
              <p:nvPr/>
            </p:nvSpPr>
            <p:spPr>
              <a:xfrm>
                <a:off x="6146044" y="4890323"/>
                <a:ext cx="51110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fr-FR" sz="2000" i="1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Г</m:t>
                          </m:r>
                        </m:e>
                        <m:sub>
                          <m:r>
                            <a:rPr lang="fr-FR" sz="2000" b="0" i="1" spc="0" baseline="0" smtClean="0">
                              <a:ln/>
                              <a:solidFill>
                                <a:srgbClr val="4D0DAB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100" name="ZoneTexte 99">
                <a:extLst>
                  <a:ext uri="{FF2B5EF4-FFF2-40B4-BE49-F238E27FC236}">
                    <a16:creationId xmlns:a16="http://schemas.microsoft.com/office/drawing/2014/main" id="{BEA8348F-C658-BE28-C4C2-DEADEAD40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044" y="4890323"/>
                <a:ext cx="511101" cy="400110"/>
              </a:xfrm>
              <a:prstGeom prst="rect">
                <a:avLst/>
              </a:prstGeom>
              <a:blipFill>
                <a:blip r:embed="rId12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ZoneTexte 100">
                <a:extLst>
                  <a:ext uri="{FF2B5EF4-FFF2-40B4-BE49-F238E27FC236}">
                    <a16:creationId xmlns:a16="http://schemas.microsoft.com/office/drawing/2014/main" id="{8EBFBAAD-4542-691B-2AE2-1E71811F9D28}"/>
                  </a:ext>
                </a:extLst>
              </p:cNvPr>
              <p:cNvSpPr txBox="1"/>
              <p:nvPr/>
            </p:nvSpPr>
            <p:spPr>
              <a:xfrm>
                <a:off x="5126339" y="3201507"/>
                <a:ext cx="47423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pc="0" baseline="0" smtClean="0">
                              <a:ln/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fr-FR" sz="2000" i="1">
                              <a:ln/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Г</m:t>
                          </m:r>
                        </m:e>
                        <m:sub>
                          <m:r>
                            <a:rPr lang="fr-FR" sz="2000" b="0" i="1" spc="0" baseline="0" smtClean="0">
                              <a:ln/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101" name="ZoneTexte 100">
                <a:extLst>
                  <a:ext uri="{FF2B5EF4-FFF2-40B4-BE49-F238E27FC236}">
                    <a16:creationId xmlns:a16="http://schemas.microsoft.com/office/drawing/2014/main" id="{8EBFBAAD-4542-691B-2AE2-1E71811F9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339" y="3201507"/>
                <a:ext cx="474232" cy="400110"/>
              </a:xfrm>
              <a:prstGeom prst="rect">
                <a:avLst/>
              </a:prstGeom>
              <a:blipFill>
                <a:blip r:embed="rId1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7FBFAC42-FB0C-9ABA-0588-57D9AF2C0156}"/>
                  </a:ext>
                </a:extLst>
              </p:cNvPr>
              <p:cNvSpPr txBox="1"/>
              <p:nvPr/>
            </p:nvSpPr>
            <p:spPr>
              <a:xfrm>
                <a:off x="5516581" y="3825513"/>
                <a:ext cx="5495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Ω</m:t>
                          </m:r>
                        </m:e>
                        <m:sub>
                          <m:r>
                            <a:rPr lang="fr-FR" sz="2000" b="0" i="1" spc="0" baseline="0" smtClean="0">
                              <a:ln/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500" i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102" name="ZoneTexte 101">
                <a:extLst>
                  <a:ext uri="{FF2B5EF4-FFF2-40B4-BE49-F238E27FC236}">
                    <a16:creationId xmlns:a16="http://schemas.microsoft.com/office/drawing/2014/main" id="{7FBFAC42-FB0C-9ABA-0588-57D9AF2C0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581" y="3825513"/>
                <a:ext cx="549573" cy="400110"/>
              </a:xfrm>
              <a:prstGeom prst="rect">
                <a:avLst/>
              </a:prstGeom>
              <a:blipFill>
                <a:blip r:embed="rId14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3D6A7A8B-57AD-2BA7-5852-B8F1DAEC80A9}"/>
              </a:ext>
            </a:extLst>
          </p:cNvPr>
          <p:cNvSpPr/>
          <p:nvPr/>
        </p:nvSpPr>
        <p:spPr>
          <a:xfrm>
            <a:off x="6255131" y="2393519"/>
            <a:ext cx="706291" cy="32316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inside</a:t>
            </a:r>
            <a:endParaRPr lang="fr-FR" sz="1400" dirty="0"/>
          </a:p>
        </p:txBody>
      </p:sp>
      <p:sp>
        <p:nvSpPr>
          <p:cNvPr id="105" name="Rectangle : coins arrondis 104">
            <a:extLst>
              <a:ext uri="{FF2B5EF4-FFF2-40B4-BE49-F238E27FC236}">
                <a16:creationId xmlns:a16="http://schemas.microsoft.com/office/drawing/2014/main" id="{9C752A9A-4881-D098-347B-F8CAEF1193DC}"/>
              </a:ext>
            </a:extLst>
          </p:cNvPr>
          <p:cNvSpPr/>
          <p:nvPr/>
        </p:nvSpPr>
        <p:spPr>
          <a:xfrm>
            <a:off x="3378435" y="2399068"/>
            <a:ext cx="848057" cy="32316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outside</a:t>
            </a:r>
            <a:endParaRPr lang="fr-FR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assets/05-physical/governing-boundaries-bold.svg</a:t>
            </a:r>
          </a:p>
        </p:txBody>
      </p:sp>
      <p:pic>
        <p:nvPicPr>
          <p:cNvPr id="3" name="Picture 2" descr="governing-boundaries-bold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200" y="1280160"/>
            <a:ext cx="3657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assets/05-physical/governing-normals.svg</a:t>
            </a:r>
          </a:p>
        </p:txBody>
      </p:sp>
      <p:pic>
        <p:nvPicPr>
          <p:cNvPr id="3" name="Picture 2" descr="governing-normals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200" y="1280160"/>
            <a:ext cx="3657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assets/05-physical/external-convection.svg</a:t>
            </a:r>
          </a:p>
        </p:txBody>
      </p:sp>
      <p:pic>
        <p:nvPicPr>
          <p:cNvPr id="3" name="Picture 2" descr="external-convection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1440" y="1280160"/>
            <a:ext cx="4389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assets/05-physical/external-radiation.svg</a:t>
            </a:r>
          </a:p>
        </p:txBody>
      </p:sp>
      <p:pic>
        <p:nvPicPr>
          <p:cNvPr id="3" name="Picture 2" descr="external-radiation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1440" y="1280160"/>
            <a:ext cx="4389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assets/05-physical/radiation-sw.svg</a:t>
            </a:r>
          </a:p>
        </p:txBody>
      </p:sp>
      <p:pic>
        <p:nvPicPr>
          <p:cNvPr id="3" name="Picture 2" descr="radiation-sw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506" y="1280160"/>
            <a:ext cx="653698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assets/05-physical/radiation-lw.svg</a:t>
            </a:r>
          </a:p>
        </p:txBody>
      </p:sp>
      <p:pic>
        <p:nvPicPr>
          <p:cNvPr id="3" name="Picture 2" descr="radiation-lw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506" y="1280160"/>
            <a:ext cx="653698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assets/05-physical/internal-convection.svg</a:t>
            </a:r>
          </a:p>
        </p:txBody>
      </p:sp>
      <p:pic>
        <p:nvPicPr>
          <p:cNvPr id="3" name="Picture 2" descr="internal-convection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598" y="1280160"/>
            <a:ext cx="503080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assets/05-physical/internal-longwave.svg</a:t>
            </a:r>
          </a:p>
        </p:txBody>
      </p:sp>
      <p:pic>
        <p:nvPicPr>
          <p:cNvPr id="3" name="Picture 2" descr="internal-longwave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598" y="1280160"/>
            <a:ext cx="503080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assets/05-physical/internal-adiabatic.svg</a:t>
            </a:r>
          </a:p>
        </p:txBody>
      </p:sp>
      <p:pic>
        <p:nvPicPr>
          <p:cNvPr id="3" name="Picture 2" descr="internal-adiabatic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0598" y="1280160"/>
            <a:ext cx="503080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assets/04-introduction/section.svg</a:t>
            </a:r>
          </a:p>
        </p:txBody>
      </p:sp>
      <p:pic>
        <p:nvPicPr>
          <p:cNvPr id="3" name="Picture 2" descr="section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9435" y="1280160"/>
            <a:ext cx="613313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assets/04-introduction/why-topology.svg</a:t>
            </a:r>
          </a:p>
        </p:txBody>
      </p:sp>
      <p:pic>
        <p:nvPicPr>
          <p:cNvPr id="3" name="Picture 2" descr="why-topology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1280160"/>
            <a:ext cx="8001000" cy="50499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assets/04-introduction/why-shape.svg</a:t>
            </a:r>
          </a:p>
        </p:txBody>
      </p:sp>
      <p:pic>
        <p:nvPicPr>
          <p:cNvPr id="3" name="Picture 2" descr="why-shape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1280160"/>
            <a:ext cx="8001000" cy="504998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assets/04-introduction/why-both.svg</a:t>
            </a:r>
          </a:p>
        </p:txBody>
      </p:sp>
      <p:pic>
        <p:nvPicPr>
          <p:cNvPr id="3" name="Picture 2" descr="why-both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1280160"/>
            <a:ext cx="8001000" cy="504998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assets/05-physical/canyon-section.svg</a:t>
            </a:r>
          </a:p>
        </p:txBody>
      </p:sp>
      <p:pic>
        <p:nvPicPr>
          <p:cNvPr id="3" name="Picture 2" descr="canyon-section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3225" y="1280160"/>
            <a:ext cx="7905549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329</Words>
  <Application>Microsoft Office PowerPoint</Application>
  <PresentationFormat>Grand écran</PresentationFormat>
  <Paragraphs>49</Paragraphs>
  <Slides>28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Cambria Math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William Dumontaud</cp:lastModifiedBy>
  <cp:revision>11</cp:revision>
  <dcterms:created xsi:type="dcterms:W3CDTF">2013-01-27T09:14:16Z</dcterms:created>
  <dcterms:modified xsi:type="dcterms:W3CDTF">2026-10-12T20:36:44Z</dcterms:modified>
  <cp:category/>
</cp:coreProperties>
</file>